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256" r:id="rId2"/>
    <p:sldId id="257" r:id="rId3"/>
  </p:sldIdLst>
  <p:sldSz cx="219456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 roundtripDataSignature="AMtx7mhFA0KrLoHFCUGgnPr2zIgFFh60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8"/>
    <p:restoredTop sz="94635"/>
  </p:normalViewPr>
  <p:slideViewPr>
    <p:cSldViewPr snapToGrid="0">
      <p:cViewPr>
        <p:scale>
          <a:sx n="76" d="100"/>
          <a:sy n="76" d="100"/>
        </p:scale>
        <p:origin x="144" y="-4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34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g3911e19d633_0_0: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 name="Google Shape;15;g3911e19d633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a:extLst>
            <a:ext uri="{FF2B5EF4-FFF2-40B4-BE49-F238E27FC236}">
              <a16:creationId xmlns:a16="http://schemas.microsoft.com/office/drawing/2014/main" id="{298B50B3-C95C-5AF9-2E01-BCF5F060E6F1}"/>
            </a:ext>
          </a:extLst>
        </p:cNvPr>
        <p:cNvGrpSpPr/>
        <p:nvPr/>
      </p:nvGrpSpPr>
      <p:grpSpPr>
        <a:xfrm>
          <a:off x="0" y="0"/>
          <a:ext cx="0" cy="0"/>
          <a:chOff x="0" y="0"/>
          <a:chExt cx="0" cy="0"/>
        </a:xfrm>
      </p:grpSpPr>
      <p:sp>
        <p:nvSpPr>
          <p:cNvPr id="14" name="Google Shape;14;g3911e19d633_0_0:notes">
            <a:extLst>
              <a:ext uri="{FF2B5EF4-FFF2-40B4-BE49-F238E27FC236}">
                <a16:creationId xmlns:a16="http://schemas.microsoft.com/office/drawing/2014/main" id="{B3A6BE4B-A0FE-19D5-6550-41C3427922C7}"/>
              </a:ext>
            </a:extLst>
          </p:cNvPr>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 name="Google Shape;15;g3911e19d633_0_0:notes">
            <a:extLst>
              <a:ext uri="{FF2B5EF4-FFF2-40B4-BE49-F238E27FC236}">
                <a16:creationId xmlns:a16="http://schemas.microsoft.com/office/drawing/2014/main" id="{7C73ED07-7A0D-B655-7DB1-BD773259CD04}"/>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6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B AI"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sldNum" idx="12"/>
          </p:nvPr>
        </p:nvSpPr>
        <p:spPr>
          <a:xfrm>
            <a:off x="10607040" y="30402779"/>
            <a:ext cx="5120641" cy="215403"/>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1pPr>
            <a:lvl2pPr marL="0" lvl="1"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2pPr>
            <a:lvl3pPr marL="0" lvl="2"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3pPr>
            <a:lvl4pPr marL="0" lvl="3"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4pPr>
            <a:lvl5pPr marL="0" lvl="4"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5pPr>
            <a:lvl6pPr marL="0" lvl="5"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6pPr>
            <a:lvl7pPr marL="0" lvl="6"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7pPr>
            <a:lvl8pPr marL="0" lvl="7"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8pPr>
            <a:lvl9pPr marL="0" lvl="8"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B AI Research ">
  <p:cSld name="FB AI Research ">
    <p:spTree>
      <p:nvGrpSpPr>
        <p:cNvPr id="1" name="Shape 11"/>
        <p:cNvGrpSpPr/>
        <p:nvPr/>
      </p:nvGrpSpPr>
      <p:grpSpPr>
        <a:xfrm>
          <a:off x="0" y="0"/>
          <a:ext cx="0" cy="0"/>
          <a:chOff x="0" y="0"/>
          <a:chExt cx="0" cy="0"/>
        </a:xfrm>
      </p:grpSpPr>
      <p:sp>
        <p:nvSpPr>
          <p:cNvPr id="12" name="Google Shape;12;p4"/>
          <p:cNvSpPr txBox="1">
            <a:spLocks noGrp="1"/>
          </p:cNvSpPr>
          <p:nvPr>
            <p:ph type="sldNum" idx="12"/>
          </p:nvPr>
        </p:nvSpPr>
        <p:spPr>
          <a:xfrm>
            <a:off x="10607040" y="30402779"/>
            <a:ext cx="5120641" cy="215403"/>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1pPr>
            <a:lvl2pPr marL="0" lvl="1"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2pPr>
            <a:lvl3pPr marL="0" lvl="2"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3pPr>
            <a:lvl4pPr marL="0" lvl="3"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4pPr>
            <a:lvl5pPr marL="0" lvl="4"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5pPr>
            <a:lvl6pPr marL="0" lvl="5"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6pPr>
            <a:lvl7pPr marL="0" lvl="6"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7pPr>
            <a:lvl8pPr marL="0" lvl="7"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8pPr>
            <a:lvl9pPr marL="0" lvl="8" indent="0" algn="r">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097280" y="441960"/>
            <a:ext cx="19751041" cy="7239002"/>
          </a:xfrm>
          <a:prstGeom prst="rect">
            <a:avLst/>
          </a:prstGeom>
          <a:noFill/>
          <a:ln>
            <a:noFill/>
          </a:ln>
        </p:spPr>
        <p:txBody>
          <a:bodyPr spcFirstLastPara="1" wrap="square" lIns="45700" tIns="45700" rIns="45700" bIns="45700" anchor="ctr" anchorCtr="0">
            <a:noAutofit/>
          </a:bodyPr>
          <a:lstStyle>
            <a:lvl1pPr marR="0" lvl="0"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14000"/>
              <a:buFont typeface="Calibri"/>
              <a:buNone/>
              <a:defRPr sz="14000" b="0" i="0" u="none" strike="noStrike" cap="none">
                <a:solidFill>
                  <a:srgbClr val="000000"/>
                </a:solidFill>
                <a:latin typeface="Calibri"/>
                <a:ea typeface="Calibri"/>
                <a:cs typeface="Calibri"/>
                <a:sym typeface="Calibri"/>
              </a:defRPr>
            </a:lvl9pPr>
          </a:lstStyle>
          <a:p>
            <a:endParaRPr/>
          </a:p>
        </p:txBody>
      </p:sp>
      <p:sp>
        <p:nvSpPr>
          <p:cNvPr id="7" name="Google Shape;7;p2"/>
          <p:cNvSpPr txBox="1">
            <a:spLocks noGrp="1"/>
          </p:cNvSpPr>
          <p:nvPr>
            <p:ph type="body" idx="1"/>
          </p:nvPr>
        </p:nvSpPr>
        <p:spPr>
          <a:xfrm>
            <a:off x="1097280" y="7680961"/>
            <a:ext cx="19751041" cy="25237442"/>
          </a:xfrm>
          <a:prstGeom prst="rect">
            <a:avLst/>
          </a:prstGeom>
          <a:noFill/>
          <a:ln>
            <a:noFill/>
          </a:ln>
        </p:spPr>
        <p:txBody>
          <a:bodyPr spcFirstLastPara="1" wrap="square" lIns="45700" tIns="45700" rIns="45700" bIns="45700" anchor="t" anchorCtr="0">
            <a:noAutofit/>
          </a:bodyPr>
          <a:lstStyle>
            <a:lvl1pPr marL="457200" marR="0" lvl="0"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1pPr>
            <a:lvl2pPr marL="914400" marR="0" lvl="1"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2pPr>
            <a:lvl3pPr marL="1371600" marR="0" lvl="2"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3pPr>
            <a:lvl4pPr marL="1828800" marR="0" lvl="3"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4pPr>
            <a:lvl5pPr marL="2286000" marR="0" lvl="4"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5pPr>
            <a:lvl6pPr marL="2743200" marR="0" lvl="5"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6pPr>
            <a:lvl7pPr marL="3200400" marR="0" lvl="6"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7pPr>
            <a:lvl8pPr marL="3657600" marR="0" lvl="7"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8pPr>
            <a:lvl9pPr marL="4114800" marR="0" lvl="8" indent="-793750" algn="l" rtl="0">
              <a:lnSpc>
                <a:spcPct val="90000"/>
              </a:lnSpc>
              <a:spcBef>
                <a:spcPts val="3200"/>
              </a:spcBef>
              <a:spcAft>
                <a:spcPts val="0"/>
              </a:spcAft>
              <a:buClr>
                <a:srgbClr val="000000"/>
              </a:buClr>
              <a:buSzPts val="8900"/>
              <a:buFont typeface="Arial"/>
              <a:buChar char="•"/>
              <a:defRPr sz="8900" b="0" i="0" u="none" strike="noStrike" cap="none">
                <a:solidFill>
                  <a:srgbClr val="000000"/>
                </a:solidFill>
                <a:latin typeface="Calibri"/>
                <a:ea typeface="Calibri"/>
                <a:cs typeface="Calibri"/>
                <a:sym typeface="Calibri"/>
              </a:defRPr>
            </a:lvl9pPr>
          </a:lstStyle>
          <a:p>
            <a:endParaRPr/>
          </a:p>
        </p:txBody>
      </p:sp>
      <p:sp>
        <p:nvSpPr>
          <p:cNvPr id="8" name="Google Shape;8;p2"/>
          <p:cNvSpPr txBox="1">
            <a:spLocks noGrp="1"/>
          </p:cNvSpPr>
          <p:nvPr>
            <p:ph type="sldNum" idx="12"/>
          </p:nvPr>
        </p:nvSpPr>
        <p:spPr>
          <a:xfrm>
            <a:off x="10607040" y="30402779"/>
            <a:ext cx="5120641" cy="215403"/>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Calibri"/>
              <a:buNone/>
              <a:defRPr sz="8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g3911e19d633_0_0"/>
          <p:cNvSpPr/>
          <p:nvPr/>
        </p:nvSpPr>
        <p:spPr>
          <a:xfrm>
            <a:off x="27433" y="0"/>
            <a:ext cx="21945600" cy="69900"/>
          </a:xfrm>
          <a:prstGeom prst="rect">
            <a:avLst/>
          </a:prstGeom>
          <a:solidFill>
            <a:srgbClr val="AA0522"/>
          </a:solidFill>
          <a:ln>
            <a:noFill/>
          </a:ln>
        </p:spPr>
        <p:txBody>
          <a:bodyPr spcFirstLastPara="1" wrap="square" lIns="47350" tIns="23650" rIns="47350" bIns="23650" anchor="t" anchorCtr="0">
            <a:noAutofit/>
          </a:bodyPr>
          <a:lstStyle/>
          <a:p>
            <a:pPr marL="0" marR="0" lvl="0" indent="0" algn="l" rtl="0">
              <a:lnSpc>
                <a:spcPct val="100000"/>
              </a:lnSpc>
              <a:spcBef>
                <a:spcPts val="0"/>
              </a:spcBef>
              <a:spcAft>
                <a:spcPts val="0"/>
              </a:spcAft>
              <a:buNone/>
            </a:pPr>
            <a:endParaRPr sz="1219" b="0" i="0" u="none" strike="noStrike" cap="none">
              <a:solidFill>
                <a:schemeClr val="dk1"/>
              </a:solidFill>
              <a:latin typeface="Arial"/>
              <a:ea typeface="Arial"/>
              <a:cs typeface="Arial"/>
              <a:sym typeface="Arial"/>
            </a:endParaRPr>
          </a:p>
        </p:txBody>
      </p:sp>
      <p:sp>
        <p:nvSpPr>
          <p:cNvPr id="18" name="Google Shape;18;g3911e19d633_0_0"/>
          <p:cNvSpPr/>
          <p:nvPr/>
        </p:nvSpPr>
        <p:spPr>
          <a:xfrm>
            <a:off x="27433" y="3054675"/>
            <a:ext cx="21945600" cy="69900"/>
          </a:xfrm>
          <a:prstGeom prst="rect">
            <a:avLst/>
          </a:prstGeom>
          <a:solidFill>
            <a:srgbClr val="AA0522"/>
          </a:solidFill>
          <a:ln>
            <a:noFill/>
          </a:ln>
        </p:spPr>
        <p:txBody>
          <a:bodyPr spcFirstLastPara="1" wrap="square" lIns="47350" tIns="23650" rIns="47350" bIns="23650" anchor="t" anchorCtr="0">
            <a:noAutofit/>
          </a:bodyPr>
          <a:lstStyle/>
          <a:p>
            <a:pPr marL="0" marR="0" lvl="0" indent="0" algn="l" rtl="0">
              <a:lnSpc>
                <a:spcPct val="100000"/>
              </a:lnSpc>
              <a:spcBef>
                <a:spcPts val="0"/>
              </a:spcBef>
              <a:spcAft>
                <a:spcPts val="0"/>
              </a:spcAft>
              <a:buNone/>
            </a:pPr>
            <a:endParaRPr sz="1219" b="0" i="0" u="none" strike="noStrike" cap="none">
              <a:solidFill>
                <a:schemeClr val="dk1"/>
              </a:solidFill>
              <a:latin typeface="Arial"/>
              <a:ea typeface="Arial"/>
              <a:cs typeface="Arial"/>
              <a:sym typeface="Arial"/>
            </a:endParaRPr>
          </a:p>
        </p:txBody>
      </p:sp>
      <p:sp>
        <p:nvSpPr>
          <p:cNvPr id="19" name="Google Shape;19;g3911e19d633_0_0"/>
          <p:cNvSpPr txBox="1"/>
          <p:nvPr/>
        </p:nvSpPr>
        <p:spPr>
          <a:xfrm>
            <a:off x="2831900" y="69900"/>
            <a:ext cx="17501100" cy="1754700"/>
          </a:xfrm>
          <a:prstGeom prst="rect">
            <a:avLst/>
          </a:prstGeom>
          <a:noFill/>
          <a:ln>
            <a:noFill/>
          </a:ln>
        </p:spPr>
        <p:txBody>
          <a:bodyPr spcFirstLastPara="1" wrap="square" lIns="30450" tIns="30450" rIns="30450" bIns="30450" anchor="ctr" anchorCtr="0">
            <a:noAutofit/>
          </a:bodyPr>
          <a:lstStyle/>
          <a:p>
            <a:pPr marL="0" marR="0" lvl="0" indent="0" algn="ctr" rtl="0">
              <a:lnSpc>
                <a:spcPct val="100000"/>
              </a:lnSpc>
              <a:spcBef>
                <a:spcPts val="0"/>
              </a:spcBef>
              <a:spcAft>
                <a:spcPts val="0"/>
              </a:spcAft>
              <a:buNone/>
            </a:pPr>
            <a:r>
              <a:rPr lang="en-US" sz="5500" b="0" i="0" u="none" strike="noStrike" cap="none">
                <a:solidFill>
                  <a:srgbClr val="000000"/>
                </a:solidFill>
                <a:latin typeface="Arial"/>
                <a:ea typeface="Arial"/>
                <a:cs typeface="Arial"/>
                <a:sym typeface="Arial"/>
              </a:rPr>
              <a:t>Recovering Origin–Destination Flows from Bus</a:t>
            </a:r>
            <a:r>
              <a:rPr lang="en-US" sz="5500"/>
              <a:t> </a:t>
            </a:r>
            <a:r>
              <a:rPr lang="en-US" sz="5500" b="0" i="0" u="none" strike="noStrike" cap="none">
                <a:solidFill>
                  <a:srgbClr val="000000"/>
                </a:solidFill>
                <a:latin typeface="Arial"/>
                <a:ea typeface="Arial"/>
                <a:cs typeface="Arial"/>
                <a:sym typeface="Arial"/>
              </a:rPr>
              <a:t>CCTV:  Early Results from Nairobi and Kigali</a:t>
            </a:r>
            <a:endParaRPr sz="5500" b="0" i="0" u="none" strike="noStrike" cap="none">
              <a:solidFill>
                <a:srgbClr val="000000"/>
              </a:solidFill>
              <a:latin typeface="Arial"/>
              <a:ea typeface="Arial"/>
              <a:cs typeface="Arial"/>
              <a:sym typeface="Arial"/>
            </a:endParaRPr>
          </a:p>
        </p:txBody>
      </p:sp>
      <p:sp>
        <p:nvSpPr>
          <p:cNvPr id="20" name="Google Shape;20;g3911e19d633_0_0"/>
          <p:cNvSpPr txBox="1"/>
          <p:nvPr/>
        </p:nvSpPr>
        <p:spPr>
          <a:xfrm>
            <a:off x="5695975" y="1726134"/>
            <a:ext cx="9434100" cy="1420200"/>
          </a:xfrm>
          <a:prstGeom prst="rect">
            <a:avLst/>
          </a:prstGeom>
          <a:noFill/>
          <a:ln>
            <a:noFill/>
          </a:ln>
        </p:spPr>
        <p:txBody>
          <a:bodyPr spcFirstLastPara="1" wrap="square" lIns="30450" tIns="30450" rIns="30450" bIns="30450" anchor="t" anchorCtr="0">
            <a:spAutoFit/>
          </a:bodyPr>
          <a:lstStyle/>
          <a:p>
            <a:pPr marL="0" marR="0" lvl="0" indent="0" algn="ctr" rtl="0">
              <a:lnSpc>
                <a:spcPct val="120000"/>
              </a:lnSpc>
              <a:spcBef>
                <a:spcPts val="0"/>
              </a:spcBef>
              <a:spcAft>
                <a:spcPts val="0"/>
              </a:spcAft>
              <a:buNone/>
            </a:pPr>
            <a:r>
              <a:rPr lang="en-US" sz="2100" b="0" i="1" u="none" strike="noStrike" cap="none">
                <a:solidFill>
                  <a:srgbClr val="000000"/>
                </a:solidFill>
                <a:latin typeface="Arial"/>
                <a:ea typeface="Arial"/>
                <a:cs typeface="Arial"/>
                <a:sym typeface="Arial"/>
              </a:rPr>
              <a:t>Nthenya Kyatha, Jay Taneja</a:t>
            </a:r>
            <a:endParaRPr sz="2100" b="0" i="1"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None/>
            </a:pPr>
            <a:r>
              <a:rPr lang="en-US" sz="2100" b="0" i="1" u="none" strike="noStrike" cap="none">
                <a:solidFill>
                  <a:srgbClr val="000000"/>
                </a:solidFill>
                <a:latin typeface="Arial"/>
                <a:ea typeface="Arial"/>
                <a:cs typeface="Arial"/>
                <a:sym typeface="Arial"/>
              </a:rPr>
              <a:t>College of Information &amp; Computer Science, UMass Amherst</a:t>
            </a:r>
            <a:endParaRPr sz="2100" b="0" i="1"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None/>
            </a:pPr>
            <a:r>
              <a:rPr lang="en-US" sz="2100" i="1"/>
              <a:t>Corresponding email: </a:t>
            </a:r>
            <a:r>
              <a:rPr lang="en-US" sz="2100" b="0" i="1" u="none" strike="noStrike" cap="none">
                <a:solidFill>
                  <a:srgbClr val="000000"/>
                </a:solidFill>
                <a:latin typeface="Arial"/>
                <a:ea typeface="Arial"/>
                <a:cs typeface="Arial"/>
                <a:sym typeface="Arial"/>
              </a:rPr>
              <a:t>mkyatha@umass.edu</a:t>
            </a:r>
            <a:endParaRPr sz="2100" b="0" i="1"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267" b="0" i="0" u="none" strike="noStrike" cap="none">
              <a:solidFill>
                <a:srgbClr val="000000"/>
              </a:solidFill>
              <a:latin typeface="Arial"/>
              <a:ea typeface="Arial"/>
              <a:cs typeface="Arial"/>
              <a:sym typeface="Arial"/>
            </a:endParaRPr>
          </a:p>
        </p:txBody>
      </p:sp>
      <p:sp>
        <p:nvSpPr>
          <p:cNvPr id="21" name="Google Shape;21;g3911e19d633_0_0"/>
          <p:cNvSpPr/>
          <p:nvPr/>
        </p:nvSpPr>
        <p:spPr>
          <a:xfrm>
            <a:off x="170225" y="3352775"/>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b="0" i="0" u="none" strike="noStrike" cap="none">
                <a:solidFill>
                  <a:srgbClr val="000000"/>
                </a:solidFill>
                <a:latin typeface="Arial"/>
                <a:ea typeface="Arial"/>
                <a:cs typeface="Arial"/>
                <a:sym typeface="Arial"/>
              </a:rPr>
              <a:t>Motivation: Why OD from CCTV?</a:t>
            </a:r>
            <a:endParaRPr sz="3400" b="0" i="0" u="none" strike="noStrike" cap="none">
              <a:solidFill>
                <a:srgbClr val="000000"/>
              </a:solidFill>
              <a:latin typeface="Arial"/>
              <a:ea typeface="Arial"/>
              <a:cs typeface="Arial"/>
              <a:sym typeface="Arial"/>
            </a:endParaRPr>
          </a:p>
        </p:txBody>
      </p:sp>
      <p:sp>
        <p:nvSpPr>
          <p:cNvPr id="22" name="Google Shape;22;g3911e19d633_0_0"/>
          <p:cNvSpPr/>
          <p:nvPr/>
        </p:nvSpPr>
        <p:spPr>
          <a:xfrm>
            <a:off x="7430600" y="3352775"/>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US" sz="3400">
                <a:solidFill>
                  <a:schemeClr val="dk1"/>
                </a:solidFill>
              </a:rPr>
              <a:t>Contribution</a:t>
            </a:r>
            <a:endParaRPr sz="3400"/>
          </a:p>
        </p:txBody>
      </p:sp>
      <p:sp>
        <p:nvSpPr>
          <p:cNvPr id="23" name="Google Shape;23;g3911e19d633_0_0"/>
          <p:cNvSpPr/>
          <p:nvPr/>
        </p:nvSpPr>
        <p:spPr>
          <a:xfrm>
            <a:off x="170225" y="3926075"/>
            <a:ext cx="6948300" cy="66435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Clr>
                <a:schemeClr val="dk1"/>
              </a:buClr>
              <a:buFont typeface="Arial"/>
              <a:buNone/>
            </a:pPr>
            <a:r>
              <a:rPr lang="en-US" sz="2100">
                <a:solidFill>
                  <a:srgbClr val="344854"/>
                </a:solidFill>
              </a:rPr>
              <a:t>Public transport in sub-Saharan Africa (SSA) is dominated by buses and matatus that routinely operate over capacity.</a:t>
            </a:r>
            <a:endParaRPr sz="2100">
              <a:solidFill>
                <a:srgbClr val="344854"/>
              </a:solidFill>
            </a:endParaRPr>
          </a:p>
          <a:p>
            <a:pPr marL="0" lvl="0" indent="0" algn="l" rtl="0">
              <a:lnSpc>
                <a:spcPct val="120000"/>
              </a:lnSpc>
              <a:spcBef>
                <a:spcPts val="0"/>
              </a:spcBef>
              <a:spcAft>
                <a:spcPts val="0"/>
              </a:spcAft>
              <a:buClr>
                <a:schemeClr val="dk1"/>
              </a:buClr>
              <a:buFont typeface="Arial"/>
              <a:buNone/>
            </a:pPr>
            <a:r>
              <a:rPr lang="en-US" sz="2100">
                <a:solidFill>
                  <a:srgbClr val="344854"/>
                </a:solidFill>
              </a:rPr>
              <a:t>Agencies still rely on manual OD surveys that are: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infrequent and expensive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hard to scale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blind to illegal roadside stops and detailed in-vehicle flows.</a:t>
            </a:r>
            <a:endParaRPr sz="2100">
              <a:solidFill>
                <a:srgbClr val="344854"/>
              </a:solidFill>
            </a:endParaRPr>
          </a:p>
          <a:p>
            <a:pPr marL="0" lvl="0" indent="0" algn="l" rtl="0">
              <a:lnSpc>
                <a:spcPct val="120000"/>
              </a:lnSpc>
              <a:spcBef>
                <a:spcPts val="0"/>
              </a:spcBef>
              <a:spcAft>
                <a:spcPts val="0"/>
              </a:spcAft>
              <a:buNone/>
            </a:pPr>
            <a:r>
              <a:rPr lang="en-US" sz="2100">
                <a:solidFill>
                  <a:srgbClr val="344854"/>
                </a:solidFill>
              </a:rPr>
              <a:t>Existing automated approaches (AFC, APCs, RFID, mobile phone data) are: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hardware-heavy, high-maintenance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often not deployed at scale in SSA</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usually provide aggregate counts, not passenger-level OD.</a:t>
            </a:r>
            <a:endParaRPr sz="2100">
              <a:solidFill>
                <a:srgbClr val="344854"/>
              </a:solidFill>
            </a:endParaRPr>
          </a:p>
          <a:p>
            <a:pPr marL="0" lvl="0" indent="0" algn="l" rtl="0">
              <a:lnSpc>
                <a:spcPct val="120000"/>
              </a:lnSpc>
              <a:spcBef>
                <a:spcPts val="0"/>
              </a:spcBef>
              <a:spcAft>
                <a:spcPts val="0"/>
              </a:spcAft>
              <a:buClr>
                <a:schemeClr val="dk1"/>
              </a:buClr>
              <a:buFont typeface="Arial"/>
              <a:buNone/>
            </a:pPr>
            <a:r>
              <a:rPr lang="en-US" sz="2100" b="1">
                <a:solidFill>
                  <a:srgbClr val="344854"/>
                </a:solidFill>
              </a:rPr>
              <a:t>Key idea</a:t>
            </a:r>
            <a:r>
              <a:rPr lang="en-US" sz="2100">
                <a:solidFill>
                  <a:srgbClr val="344854"/>
                </a:solidFill>
              </a:rPr>
              <a:t>: Use CCTV that already exists for security + telematics to recover passenger-level OD flows with minimal extra hardware.</a:t>
            </a: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24" name="Google Shape;24;g3911e19d633_0_0"/>
          <p:cNvSpPr/>
          <p:nvPr/>
        </p:nvSpPr>
        <p:spPr>
          <a:xfrm>
            <a:off x="14768750" y="3326400"/>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UrbanAI Context</a:t>
            </a:r>
            <a:endParaRPr sz="3400"/>
          </a:p>
        </p:txBody>
      </p:sp>
      <p:sp>
        <p:nvSpPr>
          <p:cNvPr id="25" name="Google Shape;25;g3911e19d633_0_0"/>
          <p:cNvSpPr/>
          <p:nvPr/>
        </p:nvSpPr>
        <p:spPr>
          <a:xfrm>
            <a:off x="7430600" y="3926175"/>
            <a:ext cx="6948300" cy="66435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457200" lvl="0" indent="-361950" algn="l" rtl="0">
              <a:lnSpc>
                <a:spcPct val="120000"/>
              </a:lnSpc>
              <a:spcBef>
                <a:spcPts val="0"/>
              </a:spcBef>
              <a:spcAft>
                <a:spcPts val="0"/>
              </a:spcAft>
              <a:buClr>
                <a:srgbClr val="344854"/>
              </a:buClr>
              <a:buSzPts val="2100"/>
              <a:buAutoNum type="arabicPeriod"/>
            </a:pPr>
            <a:r>
              <a:rPr lang="en-US" sz="2100" dirty="0">
                <a:solidFill>
                  <a:srgbClr val="344854"/>
                </a:solidFill>
              </a:rPr>
              <a:t>Baseline 4-stage CCTV + telematics pipeline for OD inference tailored to SSA buses.</a:t>
            </a:r>
            <a:endParaRPr sz="2100" dirty="0">
              <a:solidFill>
                <a:schemeClr val="dk1"/>
              </a:solidFill>
            </a:endParaRPr>
          </a:p>
          <a:p>
            <a:pPr marL="457200" lvl="0" indent="-361950" algn="l" rtl="0">
              <a:lnSpc>
                <a:spcPct val="120000"/>
              </a:lnSpc>
              <a:spcBef>
                <a:spcPts val="0"/>
              </a:spcBef>
              <a:spcAft>
                <a:spcPts val="0"/>
              </a:spcAft>
              <a:buClr>
                <a:srgbClr val="344854"/>
              </a:buClr>
              <a:buSzPts val="2100"/>
              <a:buAutoNum type="arabicPeriod"/>
            </a:pPr>
            <a:r>
              <a:rPr lang="en-US" sz="2100" dirty="0">
                <a:solidFill>
                  <a:srgbClr val="344854"/>
                </a:solidFill>
              </a:rPr>
              <a:t>Deployment on real buses in Nairobi and Kigali using only existing CCTV +  telematics—no extra sensors.</a:t>
            </a:r>
            <a:endParaRPr sz="2100" dirty="0">
              <a:solidFill>
                <a:schemeClr val="dk1"/>
              </a:solidFill>
            </a:endParaRPr>
          </a:p>
          <a:p>
            <a:pPr marL="457200" lvl="0" indent="-361950" algn="l" rtl="0">
              <a:lnSpc>
                <a:spcPct val="120000"/>
              </a:lnSpc>
              <a:spcBef>
                <a:spcPts val="0"/>
              </a:spcBef>
              <a:spcAft>
                <a:spcPts val="0"/>
              </a:spcAft>
              <a:buClr>
                <a:srgbClr val="344854"/>
              </a:buClr>
              <a:buSzPts val="2100"/>
              <a:buAutoNum type="arabicPeriod"/>
            </a:pPr>
            <a:r>
              <a:rPr lang="en-US" sz="2100" dirty="0">
                <a:solidFill>
                  <a:srgbClr val="344854"/>
                </a:solidFill>
              </a:rPr>
              <a:t>Quantitative evaluation on annotated short clips:</a:t>
            </a:r>
            <a:endParaRPr sz="2100" dirty="0">
              <a:solidFill>
                <a:schemeClr val="dk1"/>
              </a:solidFill>
            </a:endParaRPr>
          </a:p>
          <a:p>
            <a:pPr marL="914400" lvl="1" indent="-361950" algn="l" rtl="0">
              <a:lnSpc>
                <a:spcPct val="120000"/>
              </a:lnSpc>
              <a:spcBef>
                <a:spcPts val="0"/>
              </a:spcBef>
              <a:spcAft>
                <a:spcPts val="0"/>
              </a:spcAft>
              <a:buClr>
                <a:srgbClr val="344854"/>
              </a:buClr>
              <a:buSzPts val="2100"/>
              <a:buChar char="○"/>
            </a:pPr>
            <a:r>
              <a:rPr lang="en-US" sz="2100" dirty="0">
                <a:solidFill>
                  <a:srgbClr val="344854"/>
                </a:solidFill>
              </a:rPr>
              <a:t>High accuracy under low-density, well-lit conditions</a:t>
            </a:r>
            <a:endParaRPr sz="2100" dirty="0">
              <a:solidFill>
                <a:schemeClr val="dk1"/>
              </a:solidFill>
            </a:endParaRPr>
          </a:p>
          <a:p>
            <a:pPr marL="914400" lvl="1" indent="-361950" algn="l" rtl="0">
              <a:lnSpc>
                <a:spcPct val="120000"/>
              </a:lnSpc>
              <a:spcBef>
                <a:spcPts val="0"/>
              </a:spcBef>
              <a:spcAft>
                <a:spcPts val="0"/>
              </a:spcAft>
              <a:buClr>
                <a:srgbClr val="344854"/>
              </a:buClr>
              <a:buSzPts val="2100"/>
              <a:buChar char="○"/>
            </a:pPr>
            <a:r>
              <a:rPr lang="en-US" sz="2100" dirty="0">
                <a:solidFill>
                  <a:srgbClr val="344854"/>
                </a:solidFill>
              </a:rPr>
              <a:t>Sharp degradation under overcrowding, modality shifts, posture changes, and non-standard door use.</a:t>
            </a:r>
            <a:endParaRPr sz="2100" dirty="0">
              <a:solidFill>
                <a:schemeClr val="dk1"/>
              </a:solidFill>
            </a:endParaRPr>
          </a:p>
          <a:p>
            <a:pPr marL="457200" lvl="0" indent="-361950" algn="l" rtl="0">
              <a:lnSpc>
                <a:spcPct val="120000"/>
              </a:lnSpc>
              <a:spcBef>
                <a:spcPts val="0"/>
              </a:spcBef>
              <a:spcAft>
                <a:spcPts val="0"/>
              </a:spcAft>
              <a:buClr>
                <a:srgbClr val="344854"/>
              </a:buClr>
              <a:buSzPts val="2100"/>
              <a:buAutoNum type="arabicPeriod"/>
            </a:pPr>
            <a:r>
              <a:rPr lang="en-US" sz="2100" dirty="0">
                <a:solidFill>
                  <a:srgbClr val="344854"/>
                </a:solidFill>
              </a:rPr>
              <a:t>Simple, domain-informed fixes (door-state gating + flexible stop definition) that substantially boost exit-door accuracy without changing the detector or Re-ID backbone.</a:t>
            </a:r>
            <a:endParaRPr sz="2100" dirty="0">
              <a:solidFill>
                <a:srgbClr val="344854"/>
              </a:solidFill>
            </a:endParaRPr>
          </a:p>
          <a:p>
            <a:pPr marL="0" lvl="0" indent="0" algn="l" rtl="0">
              <a:lnSpc>
                <a:spcPct val="120000"/>
              </a:lnSpc>
              <a:spcBef>
                <a:spcPts val="0"/>
              </a:spcBef>
              <a:spcAft>
                <a:spcPts val="0"/>
              </a:spcAft>
              <a:buNone/>
            </a:pPr>
            <a:r>
              <a:rPr lang="en-US" sz="2100" b="1" dirty="0">
                <a:solidFill>
                  <a:srgbClr val="344854"/>
                </a:solidFill>
              </a:rPr>
              <a:t>Takeaway: </a:t>
            </a:r>
            <a:r>
              <a:rPr lang="en-US" sz="2100" dirty="0">
                <a:solidFill>
                  <a:srgbClr val="344854"/>
                </a:solidFill>
              </a:rPr>
              <a:t>We can already recover useful OD matrices from messy SSA CCTV, but door context and telematics matter more than just better CNNs.</a:t>
            </a: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l" rtl="0">
              <a:lnSpc>
                <a:spcPct val="120000"/>
              </a:lnSpc>
              <a:spcBef>
                <a:spcPts val="0"/>
              </a:spcBef>
              <a:spcAft>
                <a:spcPts val="0"/>
              </a:spcAft>
              <a:buNone/>
            </a:pPr>
            <a:endParaRPr sz="2100" dirty="0">
              <a:solidFill>
                <a:srgbClr val="344854"/>
              </a:solidFill>
            </a:endParaRPr>
          </a:p>
          <a:p>
            <a:pPr marL="0" lvl="0" indent="0" algn="ctr" rtl="0">
              <a:spcBef>
                <a:spcPts val="0"/>
              </a:spcBef>
              <a:spcAft>
                <a:spcPts val="0"/>
              </a:spcAft>
              <a:buNone/>
            </a:pPr>
            <a:endParaRPr dirty="0">
              <a:solidFill>
                <a:schemeClr val="lt1"/>
              </a:solidFill>
              <a:latin typeface="Calibri"/>
              <a:ea typeface="Calibri"/>
              <a:cs typeface="Calibri"/>
              <a:sym typeface="Calibri"/>
            </a:endParaRPr>
          </a:p>
        </p:txBody>
      </p:sp>
      <p:sp>
        <p:nvSpPr>
          <p:cNvPr id="26" name="Google Shape;26;g3911e19d633_0_0"/>
          <p:cNvSpPr/>
          <p:nvPr/>
        </p:nvSpPr>
        <p:spPr>
          <a:xfrm>
            <a:off x="14768750" y="3899725"/>
            <a:ext cx="6948300" cy="36309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Clr>
                <a:srgbClr val="000000"/>
              </a:buClr>
              <a:buFont typeface="Arial"/>
              <a:buNone/>
            </a:pPr>
            <a:r>
              <a:rPr lang="en-US" sz="2100">
                <a:solidFill>
                  <a:srgbClr val="344854"/>
                </a:solidFill>
              </a:rPr>
              <a:t>Setting: Buses in Nairobi (Kenya) and Kigali (Rwanda) with onboard CCTV and telematics. </a:t>
            </a:r>
            <a:endParaRPr sz="2100">
              <a:solidFill>
                <a:srgbClr val="344854"/>
              </a:solidFill>
            </a:endParaRPr>
          </a:p>
          <a:p>
            <a:pPr marL="0" lvl="0" indent="0" algn="l" rtl="0">
              <a:lnSpc>
                <a:spcPct val="120000"/>
              </a:lnSpc>
              <a:spcBef>
                <a:spcPts val="0"/>
              </a:spcBef>
              <a:spcAft>
                <a:spcPts val="0"/>
              </a:spcAft>
              <a:buClr>
                <a:srgbClr val="000000"/>
              </a:buClr>
              <a:buFont typeface="Arial"/>
              <a:buNone/>
            </a:pPr>
            <a:r>
              <a:rPr lang="en-US" sz="2100">
                <a:solidFill>
                  <a:srgbClr val="344854"/>
                </a:solidFill>
              </a:rPr>
              <a:t>Typical challenges:</a:t>
            </a:r>
            <a:endParaRPr sz="2100">
              <a:solidFill>
                <a:srgbClr val="344854"/>
              </a:solidFill>
            </a:endParaRPr>
          </a:p>
          <a:p>
            <a:pPr marL="304815" lvl="0" indent="-241312" algn="l" rtl="0">
              <a:lnSpc>
                <a:spcPct val="120000"/>
              </a:lnSpc>
              <a:spcBef>
                <a:spcPts val="0"/>
              </a:spcBef>
              <a:spcAft>
                <a:spcPts val="0"/>
              </a:spcAft>
              <a:buClr>
                <a:srgbClr val="344854"/>
              </a:buClr>
              <a:buSzPts val="2100"/>
              <a:buChar char="●"/>
            </a:pPr>
            <a:r>
              <a:rPr lang="en-US" sz="2100">
                <a:solidFill>
                  <a:srgbClr val="344854"/>
                </a:solidFill>
              </a:rPr>
              <a:t>Overcrowded doorways</a:t>
            </a:r>
            <a:endParaRPr sz="2100"/>
          </a:p>
          <a:p>
            <a:pPr marL="304815" lvl="0" indent="-241312" algn="l" rtl="0">
              <a:lnSpc>
                <a:spcPct val="120000"/>
              </a:lnSpc>
              <a:spcBef>
                <a:spcPts val="0"/>
              </a:spcBef>
              <a:spcAft>
                <a:spcPts val="0"/>
              </a:spcAft>
              <a:buClr>
                <a:srgbClr val="344854"/>
              </a:buClr>
              <a:buSzPts val="2100"/>
              <a:buChar char="●"/>
            </a:pPr>
            <a:r>
              <a:rPr lang="en-US" sz="2100">
                <a:solidFill>
                  <a:srgbClr val="344854"/>
                </a:solidFill>
              </a:rPr>
              <a:t>Low-resolution, sometimes monochrome CCTV</a:t>
            </a:r>
            <a:endParaRPr sz="2100"/>
          </a:p>
          <a:p>
            <a:pPr marL="304815" lvl="0" indent="-241312" algn="l" rtl="0">
              <a:lnSpc>
                <a:spcPct val="120000"/>
              </a:lnSpc>
              <a:spcBef>
                <a:spcPts val="0"/>
              </a:spcBef>
              <a:spcAft>
                <a:spcPts val="0"/>
              </a:spcAft>
              <a:buClr>
                <a:srgbClr val="344854"/>
              </a:buClr>
              <a:buSzPts val="2100"/>
              <a:buChar char="●"/>
            </a:pPr>
            <a:r>
              <a:rPr lang="en-US" sz="2100">
                <a:solidFill>
                  <a:srgbClr val="344854"/>
                </a:solidFill>
              </a:rPr>
              <a:t>Non-standard door usage </a:t>
            </a:r>
            <a:endParaRPr sz="2100">
              <a:solidFill>
                <a:srgbClr val="344854"/>
              </a:solidFill>
            </a:endParaRPr>
          </a:p>
          <a:p>
            <a:pPr marL="304815" lvl="0" indent="-241312" algn="l" rtl="0">
              <a:lnSpc>
                <a:spcPct val="120000"/>
              </a:lnSpc>
              <a:spcBef>
                <a:spcPts val="0"/>
              </a:spcBef>
              <a:spcAft>
                <a:spcPts val="0"/>
              </a:spcAft>
              <a:buClr>
                <a:srgbClr val="344854"/>
              </a:buClr>
              <a:buSzPts val="2100"/>
              <a:buChar char="●"/>
            </a:pPr>
            <a:r>
              <a:rPr lang="en-US" sz="2100">
                <a:solidFill>
                  <a:srgbClr val="344854"/>
                </a:solidFill>
              </a:rPr>
              <a:t>Illegal stops in traffic, away from official bus stops.</a:t>
            </a:r>
            <a:endParaRPr sz="2100">
              <a:solidFill>
                <a:srgbClr val="344854"/>
              </a:solidFill>
            </a:endParaRPr>
          </a:p>
          <a:p>
            <a:pPr marL="0" lvl="0" indent="0" algn="l" rtl="0">
              <a:lnSpc>
                <a:spcPct val="120000"/>
              </a:lnSpc>
              <a:spcBef>
                <a:spcPts val="0"/>
              </a:spcBef>
              <a:spcAft>
                <a:spcPts val="0"/>
              </a:spcAft>
              <a:buNone/>
            </a:pPr>
            <a:r>
              <a:rPr lang="en-US" sz="2100" b="1">
                <a:solidFill>
                  <a:srgbClr val="344854"/>
                </a:solidFill>
              </a:rPr>
              <a:t>Goal: </a:t>
            </a:r>
            <a:r>
              <a:rPr lang="en-US" sz="2100">
                <a:solidFill>
                  <a:srgbClr val="344854"/>
                </a:solidFill>
              </a:rPr>
              <a:t>Enable data-driven route design, equity analysis, and e-bus planning using vision + onboard sensors.</a:t>
            </a: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27" name="Google Shape;27;g3911e19d633_0_0"/>
          <p:cNvSpPr/>
          <p:nvPr/>
        </p:nvSpPr>
        <p:spPr>
          <a:xfrm>
            <a:off x="170300" y="11349325"/>
            <a:ext cx="14208600" cy="54819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28" name="Google Shape;28;g3911e19d633_0_0"/>
          <p:cNvSpPr/>
          <p:nvPr/>
        </p:nvSpPr>
        <p:spPr>
          <a:xfrm>
            <a:off x="180625" y="27263775"/>
            <a:ext cx="6948300" cy="42954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During overcrowding &amp; occlusion at doors, only heads visible; tracklets fragment.</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Due to posture changes (standing, sitting, leaning) appearance embeddings drift; Re-ID continuity breaks.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Modality shifts (color ↔ monochrome / IR) causes a drop in recall; embeddings unstable.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Visual similarity (uniforms, similar clothing) cause identity switches; ambiguous matches.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Boarding + alighting both doors cause a mismatch between direction of motion and door semantics.</a:t>
            </a: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29" name="Google Shape;29;g3911e19d633_0_0"/>
          <p:cNvSpPr/>
          <p:nvPr/>
        </p:nvSpPr>
        <p:spPr>
          <a:xfrm>
            <a:off x="7406175" y="27263875"/>
            <a:ext cx="6948300" cy="42954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457200" lvl="0" indent="-361950" algn="l" rtl="0">
              <a:lnSpc>
                <a:spcPct val="120000"/>
              </a:lnSpc>
              <a:spcBef>
                <a:spcPts val="0"/>
              </a:spcBef>
              <a:spcAft>
                <a:spcPts val="0"/>
              </a:spcAft>
              <a:buClr>
                <a:srgbClr val="344854"/>
              </a:buClr>
              <a:buSzPts val="2100"/>
              <a:buChar char="●"/>
            </a:pPr>
            <a:r>
              <a:rPr lang="en-US" sz="2100">
                <a:solidFill>
                  <a:srgbClr val="344854"/>
                </a:solidFill>
              </a:rPr>
              <a:t>CCTV-only OD is feasible in low-resource settings when fused with telematics.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Behavioral and operational context (door state, stop logic) is as important as model choice.</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Simple rules (door gating, near-zero speed with open doors) deliver big gains in exit-door accuracy.</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Failure under extreme crowding and modality shifts highlight the need for robust, deployment-aware Re-ID embeddings and trajectory-aware identity repair and motion-informed gating.</a:t>
            </a:r>
            <a:endParaRPr>
              <a:solidFill>
                <a:schemeClr val="lt1"/>
              </a:solidFill>
              <a:latin typeface="Calibri"/>
              <a:ea typeface="Calibri"/>
              <a:cs typeface="Calibri"/>
              <a:sym typeface="Calibri"/>
            </a:endParaRPr>
          </a:p>
        </p:txBody>
      </p:sp>
      <p:sp>
        <p:nvSpPr>
          <p:cNvPr id="30" name="Google Shape;30;g3911e19d633_0_0"/>
          <p:cNvSpPr/>
          <p:nvPr/>
        </p:nvSpPr>
        <p:spPr>
          <a:xfrm>
            <a:off x="14767825" y="27263825"/>
            <a:ext cx="6948300" cy="42954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457200" lvl="0" indent="-361950" algn="l" rtl="0">
              <a:lnSpc>
                <a:spcPct val="120000"/>
              </a:lnSpc>
              <a:spcBef>
                <a:spcPts val="0"/>
              </a:spcBef>
              <a:spcAft>
                <a:spcPts val="0"/>
              </a:spcAft>
              <a:buClr>
                <a:srgbClr val="344854"/>
              </a:buClr>
              <a:buSzPts val="2100"/>
              <a:buChar char="●"/>
            </a:pPr>
            <a:r>
              <a:rPr lang="en-US" sz="2100">
                <a:solidFill>
                  <a:srgbClr val="344854"/>
                </a:solidFill>
              </a:rPr>
              <a:t>Build stronger cross-camera, motion-aware gating + cost-optimal assignment for crowded doors.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Controlled robustness studies by varying crowding and posture to quantify ID stability.</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Scale to full-day deployments and analyze equity impacts.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Streamline the counter to be queue aware so that people waiting outside are not counted until they truly cross into or out of the vehicle.</a:t>
            </a:r>
            <a:endParaRPr sz="2100">
              <a:solidFill>
                <a:srgbClr val="344854"/>
              </a:solidFill>
            </a:endParaRPr>
          </a:p>
          <a:p>
            <a:pPr marL="0" lvl="0" indent="0" algn="l" rtl="0">
              <a:lnSpc>
                <a:spcPct val="120000"/>
              </a:lnSpc>
              <a:spcBef>
                <a:spcPts val="0"/>
              </a:spcBef>
              <a:spcAft>
                <a:spcPts val="0"/>
              </a:spcAft>
              <a:buNone/>
            </a:pP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31" name="Google Shape;31;g3911e19d633_0_0"/>
          <p:cNvSpPr/>
          <p:nvPr/>
        </p:nvSpPr>
        <p:spPr>
          <a:xfrm>
            <a:off x="170300" y="17613250"/>
            <a:ext cx="21570300" cy="8895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32" name="Google Shape;32;g3911e19d633_0_0"/>
          <p:cNvSpPr/>
          <p:nvPr/>
        </p:nvSpPr>
        <p:spPr>
          <a:xfrm>
            <a:off x="14768750" y="7530650"/>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Data &amp; Evaluation</a:t>
            </a:r>
            <a:endParaRPr sz="3400">
              <a:solidFill>
                <a:schemeClr val="dk1"/>
              </a:solidFill>
            </a:endParaRPr>
          </a:p>
        </p:txBody>
      </p:sp>
      <p:sp>
        <p:nvSpPr>
          <p:cNvPr id="33" name="Google Shape;33;g3911e19d633_0_0"/>
          <p:cNvSpPr/>
          <p:nvPr/>
        </p:nvSpPr>
        <p:spPr>
          <a:xfrm>
            <a:off x="14768750" y="8103900"/>
            <a:ext cx="6948300" cy="24657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11 CCTV segments, 3–8 minutes each.</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Conditions evaluated include low, medium and peak crowding, color vs monochrome segments and partial occlusions.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Ground truth data contains per-door entry/exit counts and derived OD matrices per clip.</a:t>
            </a: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34" name="Google Shape;34;g3911e19d633_0_0"/>
          <p:cNvSpPr/>
          <p:nvPr/>
        </p:nvSpPr>
        <p:spPr>
          <a:xfrm>
            <a:off x="14767825" y="26700613"/>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Next Steps</a:t>
            </a:r>
            <a:endParaRPr sz="3400">
              <a:solidFill>
                <a:schemeClr val="dk1"/>
              </a:solidFill>
            </a:endParaRPr>
          </a:p>
        </p:txBody>
      </p:sp>
      <p:sp>
        <p:nvSpPr>
          <p:cNvPr id="35" name="Google Shape;35;g3911e19d633_0_0"/>
          <p:cNvSpPr/>
          <p:nvPr/>
        </p:nvSpPr>
        <p:spPr>
          <a:xfrm>
            <a:off x="7406175" y="26700613"/>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Key Takeaways</a:t>
            </a:r>
            <a:endParaRPr sz="3400">
              <a:solidFill>
                <a:schemeClr val="dk1"/>
              </a:solidFill>
            </a:endParaRPr>
          </a:p>
        </p:txBody>
      </p:sp>
      <p:sp>
        <p:nvSpPr>
          <p:cNvPr id="36" name="Google Shape;36;g3911e19d633_0_0"/>
          <p:cNvSpPr/>
          <p:nvPr/>
        </p:nvSpPr>
        <p:spPr>
          <a:xfrm>
            <a:off x="180625" y="26700613"/>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Deployment-Specific Challenges</a:t>
            </a:r>
            <a:endParaRPr sz="3400">
              <a:solidFill>
                <a:schemeClr val="dk1"/>
              </a:solidFill>
            </a:endParaRPr>
          </a:p>
        </p:txBody>
      </p:sp>
      <p:sp>
        <p:nvSpPr>
          <p:cNvPr id="37" name="Google Shape;37;g3911e19d633_0_0"/>
          <p:cNvSpPr/>
          <p:nvPr/>
        </p:nvSpPr>
        <p:spPr>
          <a:xfrm>
            <a:off x="170225" y="10791050"/>
            <a:ext cx="142086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System Overview</a:t>
            </a:r>
            <a:endParaRPr sz="3400">
              <a:solidFill>
                <a:schemeClr val="dk1"/>
              </a:solidFill>
            </a:endParaRPr>
          </a:p>
        </p:txBody>
      </p:sp>
      <p:sp>
        <p:nvSpPr>
          <p:cNvPr id="38" name="Google Shape;38;g3911e19d633_0_0"/>
          <p:cNvSpPr/>
          <p:nvPr/>
        </p:nvSpPr>
        <p:spPr>
          <a:xfrm>
            <a:off x="14768750" y="10791050"/>
            <a:ext cx="6948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Baseline Pipeline</a:t>
            </a:r>
            <a:endParaRPr sz="3400">
              <a:solidFill>
                <a:schemeClr val="dk1"/>
              </a:solidFill>
            </a:endParaRPr>
          </a:p>
        </p:txBody>
      </p:sp>
      <p:sp>
        <p:nvSpPr>
          <p:cNvPr id="39" name="Google Shape;39;g3911e19d633_0_0"/>
          <p:cNvSpPr/>
          <p:nvPr/>
        </p:nvSpPr>
        <p:spPr>
          <a:xfrm>
            <a:off x="14768750" y="11360450"/>
            <a:ext cx="6948300" cy="54819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20000"/>
              </a:lnSpc>
              <a:spcBef>
                <a:spcPts val="0"/>
              </a:spcBef>
              <a:spcAft>
                <a:spcPts val="0"/>
              </a:spcAft>
              <a:buNone/>
            </a:pPr>
            <a:endParaRPr sz="2100">
              <a:solidFill>
                <a:srgbClr val="344854"/>
              </a:solidFill>
            </a:endParaRPr>
          </a:p>
          <a:p>
            <a:pPr marL="457200" lvl="0" indent="-361950" algn="l" rtl="0">
              <a:lnSpc>
                <a:spcPct val="120000"/>
              </a:lnSpc>
              <a:spcBef>
                <a:spcPts val="0"/>
              </a:spcBef>
              <a:spcAft>
                <a:spcPts val="0"/>
              </a:spcAft>
              <a:buSzPts val="2100"/>
              <a:buChar char="●"/>
            </a:pPr>
            <a:r>
              <a:rPr lang="en-US" sz="2100">
                <a:solidFill>
                  <a:srgbClr val="344854"/>
                </a:solidFill>
              </a:rPr>
              <a:t>For each camera, detect and track passengers with BotSORT + ReID </a:t>
            </a:r>
            <a:r>
              <a:rPr lang="en-US" sz="2100">
                <a:solidFill>
                  <a:schemeClr val="dk1"/>
                </a:solidFill>
              </a:rPr>
              <a:t>to get </a:t>
            </a:r>
            <a:r>
              <a:rPr lang="en-US" sz="2100">
                <a:solidFill>
                  <a:srgbClr val="344854"/>
                </a:solidFill>
              </a:rPr>
              <a:t>per-camera tracklets.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Link tracklets from front camera (Cam-A) and exit door camera (Cam-B).</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a:solidFill>
                  <a:srgbClr val="344854"/>
                </a:solidFill>
              </a:rPr>
              <a:t>OCR to extract on frame timestamp &amp; aggregate ROI-based IN/OUT events into per-second counts.</a:t>
            </a:r>
            <a:endParaRPr sz="2100">
              <a:solidFill>
                <a:srgbClr val="344854"/>
              </a:solidFill>
            </a:endParaRPr>
          </a:p>
          <a:p>
            <a:pPr marL="457200" lvl="0" indent="-361950" algn="l" rtl="0">
              <a:lnSpc>
                <a:spcPct val="120000"/>
              </a:lnSpc>
              <a:spcBef>
                <a:spcPts val="0"/>
              </a:spcBef>
              <a:spcAft>
                <a:spcPts val="0"/>
              </a:spcAft>
              <a:buSzPts val="2100"/>
              <a:buChar char="●"/>
            </a:pPr>
            <a:r>
              <a:rPr lang="en-US" sz="2100">
                <a:solidFill>
                  <a:srgbClr val="344854"/>
                </a:solidFill>
              </a:rPr>
              <a:t>Use telematics data (GPS, wheel speed) to detect and classify stops.</a:t>
            </a:r>
            <a:endParaRPr sz="2100">
              <a:solidFill>
                <a:srgbClr val="344854"/>
              </a:solidFill>
            </a:endParaRPr>
          </a:p>
          <a:p>
            <a:pPr marL="457200" lvl="0" indent="-361950" algn="l" rtl="0">
              <a:lnSpc>
                <a:spcPct val="120000"/>
              </a:lnSpc>
              <a:spcBef>
                <a:spcPts val="0"/>
              </a:spcBef>
              <a:spcAft>
                <a:spcPts val="0"/>
              </a:spcAft>
              <a:buClr>
                <a:srgbClr val="344854"/>
              </a:buClr>
              <a:buSzPts val="2100"/>
              <a:buChar char="●"/>
            </a:pPr>
            <a:r>
              <a:rPr lang="en-US" sz="2100" b="1">
                <a:solidFill>
                  <a:srgbClr val="344854"/>
                </a:solidFill>
              </a:rPr>
              <a:t>New:</a:t>
            </a:r>
            <a:r>
              <a:rPr lang="en-US" sz="2100">
                <a:solidFill>
                  <a:srgbClr val="344854"/>
                </a:solidFill>
              </a:rPr>
              <a:t> Use </a:t>
            </a:r>
            <a:r>
              <a:rPr lang="en-US" sz="2100" b="1">
                <a:solidFill>
                  <a:srgbClr val="344854"/>
                </a:solidFill>
              </a:rPr>
              <a:t>head detection</a:t>
            </a:r>
            <a:r>
              <a:rPr lang="en-US" sz="2100">
                <a:solidFill>
                  <a:srgbClr val="344854"/>
                </a:solidFill>
              </a:rPr>
              <a:t> for IN/OUT events during </a:t>
            </a:r>
            <a:r>
              <a:rPr lang="en-US" sz="2100" b="1">
                <a:solidFill>
                  <a:srgbClr val="344854"/>
                </a:solidFill>
              </a:rPr>
              <a:t>overcrowding </a:t>
            </a:r>
            <a:r>
              <a:rPr lang="en-US" sz="2100">
                <a:solidFill>
                  <a:srgbClr val="344854"/>
                </a:solidFill>
              </a:rPr>
              <a:t>and</a:t>
            </a:r>
            <a:r>
              <a:rPr lang="en-US" sz="2100" b="1">
                <a:solidFill>
                  <a:srgbClr val="344854"/>
                </a:solidFill>
              </a:rPr>
              <a:t> activate </a:t>
            </a:r>
            <a:r>
              <a:rPr lang="en-US" sz="2100">
                <a:solidFill>
                  <a:srgbClr val="344854"/>
                </a:solidFill>
              </a:rPr>
              <a:t>counter</a:t>
            </a:r>
            <a:r>
              <a:rPr lang="en-US" sz="2100" b="1">
                <a:solidFill>
                  <a:srgbClr val="344854"/>
                </a:solidFill>
              </a:rPr>
              <a:t> ONLY </a:t>
            </a:r>
            <a:r>
              <a:rPr lang="en-US" sz="2100">
                <a:solidFill>
                  <a:srgbClr val="344854"/>
                </a:solidFill>
              </a:rPr>
              <a:t>when door is </a:t>
            </a:r>
            <a:r>
              <a:rPr lang="en-US" sz="2100" b="1">
                <a:solidFill>
                  <a:srgbClr val="344854"/>
                </a:solidFill>
              </a:rPr>
              <a:t>open</a:t>
            </a:r>
            <a:r>
              <a:rPr lang="en-US" sz="2100">
                <a:solidFill>
                  <a:srgbClr val="344854"/>
                </a:solidFill>
              </a:rPr>
              <a:t>.</a:t>
            </a:r>
            <a:endParaRPr sz="2100" b="1">
              <a:solidFill>
                <a:srgbClr val="344854"/>
              </a:solidFill>
            </a:endParaRPr>
          </a:p>
          <a:p>
            <a:pPr marL="457200" lvl="0" indent="-361950" algn="l" rtl="0">
              <a:lnSpc>
                <a:spcPct val="120000"/>
              </a:lnSpc>
              <a:spcBef>
                <a:spcPts val="0"/>
              </a:spcBef>
              <a:spcAft>
                <a:spcPts val="0"/>
              </a:spcAft>
              <a:buSzPts val="2100"/>
              <a:buChar char="●"/>
            </a:pPr>
            <a:r>
              <a:rPr lang="en-US" sz="2100">
                <a:solidFill>
                  <a:srgbClr val="344854"/>
                </a:solidFill>
              </a:rPr>
              <a:t>For each passenger trajectory, identify </a:t>
            </a:r>
            <a:r>
              <a:rPr lang="en-US" sz="2100" b="1">
                <a:solidFill>
                  <a:srgbClr val="344854"/>
                </a:solidFill>
              </a:rPr>
              <a:t>boarding stop</a:t>
            </a:r>
            <a:r>
              <a:rPr lang="en-US" sz="2100">
                <a:solidFill>
                  <a:srgbClr val="344854"/>
                </a:solidFill>
              </a:rPr>
              <a:t> and </a:t>
            </a:r>
            <a:r>
              <a:rPr lang="en-US" sz="2100" b="1">
                <a:solidFill>
                  <a:srgbClr val="344854"/>
                </a:solidFill>
              </a:rPr>
              <a:t>alighting stop </a:t>
            </a:r>
            <a:r>
              <a:rPr lang="en-US" sz="2100">
                <a:solidFill>
                  <a:srgbClr val="344854"/>
                </a:solidFill>
              </a:rPr>
              <a:t>→ increment cell in OD matrix.</a:t>
            </a: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40" name="Google Shape;40;g3911e19d633_0_0"/>
          <p:cNvSpPr/>
          <p:nvPr/>
        </p:nvSpPr>
        <p:spPr>
          <a:xfrm>
            <a:off x="170300" y="17024800"/>
            <a:ext cx="21570300" cy="573300"/>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a:solidFill>
                  <a:schemeClr val="dk1"/>
                </a:solidFill>
              </a:rPr>
              <a:t>Results</a:t>
            </a:r>
            <a:endParaRPr sz="3400">
              <a:solidFill>
                <a:schemeClr val="dk1"/>
              </a:solidFill>
            </a:endParaRPr>
          </a:p>
        </p:txBody>
      </p:sp>
      <p:sp>
        <p:nvSpPr>
          <p:cNvPr id="41" name="Google Shape;41;g3911e19d633_0_0"/>
          <p:cNvSpPr/>
          <p:nvPr/>
        </p:nvSpPr>
        <p:spPr>
          <a:xfrm>
            <a:off x="187700" y="31650800"/>
            <a:ext cx="21570300" cy="8097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r>
              <a:rPr lang="en-US" sz="2100">
                <a:solidFill>
                  <a:srgbClr val="344854"/>
                </a:solidFill>
              </a:rPr>
              <a:t>Authors thank BasiGo for granting access to CCTV footage and operational data from buses in Nairobi and Kigali, UMass Amherst for institutional support, computing resources, and mentoring and WiML for providing travel support.</a:t>
            </a: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pic>
        <p:nvPicPr>
          <p:cNvPr id="42" name="Google Shape;42;g3911e19d633_0_0"/>
          <p:cNvPicPr preferRelativeResize="0"/>
          <p:nvPr/>
        </p:nvPicPr>
        <p:blipFill>
          <a:blip r:embed="rId3">
            <a:alphaModFix/>
          </a:blip>
          <a:stretch>
            <a:fillRect/>
          </a:stretch>
        </p:blipFill>
        <p:spPr>
          <a:xfrm>
            <a:off x="27425" y="187575"/>
            <a:ext cx="2703162" cy="2703162"/>
          </a:xfrm>
          <a:prstGeom prst="rect">
            <a:avLst/>
          </a:prstGeom>
          <a:noFill/>
          <a:ln>
            <a:noFill/>
          </a:ln>
        </p:spPr>
      </p:pic>
      <p:sp>
        <p:nvSpPr>
          <p:cNvPr id="43" name="Google Shape;43;g3911e19d633_0_0"/>
          <p:cNvSpPr/>
          <p:nvPr/>
        </p:nvSpPr>
        <p:spPr>
          <a:xfrm>
            <a:off x="0" y="32552255"/>
            <a:ext cx="21945600" cy="169500"/>
          </a:xfrm>
          <a:prstGeom prst="rect">
            <a:avLst/>
          </a:prstGeom>
          <a:solidFill>
            <a:srgbClr val="AA0522"/>
          </a:solidFill>
          <a:ln>
            <a:noFill/>
          </a:ln>
        </p:spPr>
        <p:txBody>
          <a:bodyPr spcFirstLastPara="1" wrap="square" lIns="44000" tIns="22000" rIns="44000" bIns="22000" anchor="t" anchorCtr="0">
            <a:noAutofit/>
          </a:bodyPr>
          <a:lstStyle/>
          <a:p>
            <a:pPr marL="0" marR="0" lvl="0" indent="0" algn="l" rtl="0">
              <a:lnSpc>
                <a:spcPct val="100000"/>
              </a:lnSpc>
              <a:spcBef>
                <a:spcPts val="0"/>
              </a:spcBef>
              <a:spcAft>
                <a:spcPts val="0"/>
              </a:spcAft>
              <a:buNone/>
            </a:pPr>
            <a:endParaRPr sz="1133" b="0" i="0" u="none" strike="noStrike" cap="none">
              <a:solidFill>
                <a:schemeClr val="dk1"/>
              </a:solidFill>
              <a:latin typeface="Arial"/>
              <a:ea typeface="Arial"/>
              <a:cs typeface="Arial"/>
              <a:sym typeface="Arial"/>
            </a:endParaRPr>
          </a:p>
        </p:txBody>
      </p:sp>
      <p:sp>
        <p:nvSpPr>
          <p:cNvPr id="44" name="Google Shape;44;g3911e19d633_0_0"/>
          <p:cNvSpPr/>
          <p:nvPr/>
        </p:nvSpPr>
        <p:spPr>
          <a:xfrm>
            <a:off x="0" y="32721655"/>
            <a:ext cx="21981300" cy="196800"/>
          </a:xfrm>
          <a:prstGeom prst="rect">
            <a:avLst/>
          </a:prstGeom>
          <a:solidFill>
            <a:srgbClr val="7F7F7F"/>
          </a:solidFill>
          <a:ln>
            <a:noFill/>
          </a:ln>
        </p:spPr>
        <p:txBody>
          <a:bodyPr spcFirstLastPara="1" wrap="square" lIns="44000" tIns="22000" rIns="44000" bIns="22000" anchor="t" anchorCtr="0">
            <a:noAutofit/>
          </a:bodyPr>
          <a:lstStyle/>
          <a:p>
            <a:pPr marL="0" marR="0" lvl="0" indent="0" algn="l" rtl="0">
              <a:lnSpc>
                <a:spcPct val="100000"/>
              </a:lnSpc>
              <a:spcBef>
                <a:spcPts val="0"/>
              </a:spcBef>
              <a:spcAft>
                <a:spcPts val="0"/>
              </a:spcAft>
              <a:buNone/>
            </a:pPr>
            <a:endParaRPr sz="1133" b="0" i="0" u="none" strike="noStrike" cap="none">
              <a:solidFill>
                <a:schemeClr val="dk1"/>
              </a:solidFill>
              <a:latin typeface="Arial"/>
              <a:ea typeface="Arial"/>
              <a:cs typeface="Arial"/>
              <a:sym typeface="Arial"/>
            </a:endParaRPr>
          </a:p>
        </p:txBody>
      </p:sp>
      <p:pic>
        <p:nvPicPr>
          <p:cNvPr id="45" name="Google Shape;45;g3911e19d633_0_0" descr="neurips_logo.pdf"/>
          <p:cNvPicPr preferRelativeResize="0"/>
          <p:nvPr/>
        </p:nvPicPr>
        <p:blipFill rotWithShape="1">
          <a:blip r:embed="rId4">
            <a:alphaModFix/>
          </a:blip>
          <a:srcRect/>
          <a:stretch/>
        </p:blipFill>
        <p:spPr>
          <a:xfrm>
            <a:off x="17812311" y="954598"/>
            <a:ext cx="3761264" cy="1692575"/>
          </a:xfrm>
          <a:prstGeom prst="rect">
            <a:avLst/>
          </a:prstGeom>
          <a:noFill/>
          <a:ln>
            <a:noFill/>
          </a:ln>
        </p:spPr>
      </p:pic>
      <p:pic>
        <p:nvPicPr>
          <p:cNvPr id="46" name="Google Shape;46;g3911e19d633_0_0" title="results.png"/>
          <p:cNvPicPr preferRelativeResize="0"/>
          <p:nvPr/>
        </p:nvPicPr>
        <p:blipFill rotWithShape="1">
          <a:blip r:embed="rId5">
            <a:alphaModFix/>
          </a:blip>
          <a:srcRect/>
          <a:stretch/>
        </p:blipFill>
        <p:spPr>
          <a:xfrm>
            <a:off x="11040750" y="24043025"/>
            <a:ext cx="10675378" cy="2465700"/>
          </a:xfrm>
          <a:prstGeom prst="rect">
            <a:avLst/>
          </a:prstGeom>
          <a:noFill/>
          <a:ln>
            <a:noFill/>
          </a:ln>
        </p:spPr>
      </p:pic>
      <p:pic>
        <p:nvPicPr>
          <p:cNvPr id="47" name="Google Shape;47;g3911e19d633_0_0" title="graph.png"/>
          <p:cNvPicPr preferRelativeResize="0"/>
          <p:nvPr/>
        </p:nvPicPr>
        <p:blipFill>
          <a:blip r:embed="rId6">
            <a:alphaModFix/>
          </a:blip>
          <a:stretch>
            <a:fillRect/>
          </a:stretch>
        </p:blipFill>
        <p:spPr>
          <a:xfrm>
            <a:off x="11476700" y="17711600"/>
            <a:ext cx="9803469" cy="6217926"/>
          </a:xfrm>
          <a:prstGeom prst="rect">
            <a:avLst/>
          </a:prstGeom>
          <a:noFill/>
          <a:ln>
            <a:noFill/>
          </a:ln>
        </p:spPr>
      </p:pic>
      <p:pic>
        <p:nvPicPr>
          <p:cNvPr id="48" name="Google Shape;48;g3911e19d633_0_0" title="Screenshot 2025-11-30 at 00.41.39.png"/>
          <p:cNvPicPr preferRelativeResize="0"/>
          <p:nvPr/>
        </p:nvPicPr>
        <p:blipFill rotWithShape="1">
          <a:blip r:embed="rId7">
            <a:alphaModFix/>
          </a:blip>
          <a:srcRect l="1257" t="1900" r="1228" b="5395"/>
          <a:stretch/>
        </p:blipFill>
        <p:spPr>
          <a:xfrm>
            <a:off x="314400" y="21015763"/>
            <a:ext cx="8456399" cy="3403500"/>
          </a:xfrm>
          <a:prstGeom prst="rect">
            <a:avLst/>
          </a:prstGeom>
          <a:noFill/>
          <a:ln>
            <a:noFill/>
          </a:ln>
        </p:spPr>
      </p:pic>
      <p:pic>
        <p:nvPicPr>
          <p:cNvPr id="49" name="Google Shape;49;g3911e19d633_0_0" title="Screenshot 2025-11-30 at 00.47.42.png"/>
          <p:cNvPicPr preferRelativeResize="0"/>
          <p:nvPr/>
        </p:nvPicPr>
        <p:blipFill rotWithShape="1">
          <a:blip r:embed="rId8">
            <a:alphaModFix/>
          </a:blip>
          <a:srcRect t="3874" r="990" b="3652"/>
          <a:stretch/>
        </p:blipFill>
        <p:spPr>
          <a:xfrm>
            <a:off x="314400" y="17940125"/>
            <a:ext cx="8456400" cy="2986125"/>
          </a:xfrm>
          <a:prstGeom prst="rect">
            <a:avLst/>
          </a:prstGeom>
          <a:noFill/>
          <a:ln>
            <a:noFill/>
          </a:ln>
        </p:spPr>
      </p:pic>
      <p:sp>
        <p:nvSpPr>
          <p:cNvPr id="50" name="Google Shape;50;g3911e19d633_0_0"/>
          <p:cNvSpPr txBox="1"/>
          <p:nvPr/>
        </p:nvSpPr>
        <p:spPr>
          <a:xfrm>
            <a:off x="314400" y="24508775"/>
            <a:ext cx="8731800" cy="1806900"/>
          </a:xfrm>
          <a:prstGeom prst="rect">
            <a:avLst/>
          </a:prstGeom>
          <a:noFill/>
          <a:ln>
            <a:noFill/>
          </a:ln>
        </p:spPr>
        <p:txBody>
          <a:bodyPr spcFirstLastPara="1" wrap="square" lIns="30450" tIns="30450" rIns="30450" bIns="30450" anchor="t" anchorCtr="0">
            <a:spAutoFit/>
          </a:bodyPr>
          <a:lstStyle/>
          <a:p>
            <a:pPr marL="304815" marR="0" lvl="0" indent="-285762" algn="l" rtl="0">
              <a:lnSpc>
                <a:spcPct val="120000"/>
              </a:lnSpc>
              <a:spcBef>
                <a:spcPts val="0"/>
              </a:spcBef>
              <a:spcAft>
                <a:spcPts val="0"/>
              </a:spcAft>
              <a:buClr>
                <a:srgbClr val="344854"/>
              </a:buClr>
              <a:buSzPts val="2800"/>
              <a:buFont typeface="Arial"/>
              <a:buChar char="●"/>
            </a:pPr>
            <a:r>
              <a:rPr lang="en-US" sz="2100" b="0" i="0" u="none" strike="noStrike" cap="none">
                <a:solidFill>
                  <a:srgbClr val="344854"/>
                </a:solidFill>
                <a:latin typeface="Arial"/>
                <a:ea typeface="Arial"/>
                <a:cs typeface="Arial"/>
                <a:sym typeface="Arial"/>
              </a:rPr>
              <a:t>Hybrid detector does not improve exit accuracy on current segments vs baseline.</a:t>
            </a:r>
            <a:endParaRPr sz="2100">
              <a:solidFill>
                <a:srgbClr val="344854"/>
              </a:solidFill>
            </a:endParaRPr>
          </a:p>
          <a:p>
            <a:pPr marL="304815" marR="0" lvl="0" indent="-285762" algn="l" rtl="0">
              <a:lnSpc>
                <a:spcPct val="120000"/>
              </a:lnSpc>
              <a:spcBef>
                <a:spcPts val="0"/>
              </a:spcBef>
              <a:spcAft>
                <a:spcPts val="0"/>
              </a:spcAft>
              <a:buClr>
                <a:srgbClr val="344854"/>
              </a:buClr>
              <a:buSzPts val="2800"/>
              <a:buFont typeface="Arial"/>
              <a:buChar char="●"/>
            </a:pPr>
            <a:r>
              <a:rPr lang="en-US" sz="2100" b="1">
                <a:solidFill>
                  <a:srgbClr val="344854"/>
                </a:solidFill>
              </a:rPr>
              <a:t>Takeaway</a:t>
            </a:r>
            <a:r>
              <a:rPr lang="en-US" sz="2100">
                <a:solidFill>
                  <a:srgbClr val="344854"/>
                </a:solidFill>
              </a:rPr>
              <a:t>: Simple domain cues (door state, near-zero speed with open doors) fix more than just adding another detector.</a:t>
            </a:r>
            <a:endParaRPr sz="2100">
              <a:solidFill>
                <a:srgbClr val="344854"/>
              </a:solidFill>
            </a:endParaRPr>
          </a:p>
        </p:txBody>
      </p:sp>
      <p:pic>
        <p:nvPicPr>
          <p:cNvPr id="51" name="Google Shape;51;g3911e19d633_0_0" title="two_stream_crosscam_pipeline (1).png"/>
          <p:cNvPicPr preferRelativeResize="0"/>
          <p:nvPr/>
        </p:nvPicPr>
        <p:blipFill>
          <a:blip r:embed="rId9">
            <a:alphaModFix/>
          </a:blip>
          <a:stretch>
            <a:fillRect/>
          </a:stretch>
        </p:blipFill>
        <p:spPr>
          <a:xfrm>
            <a:off x="204875" y="11602675"/>
            <a:ext cx="14139277" cy="4123952"/>
          </a:xfrm>
          <a:prstGeom prst="rect">
            <a:avLst/>
          </a:prstGeom>
          <a:noFill/>
          <a:ln>
            <a:noFill/>
          </a:ln>
        </p:spPr>
      </p:pic>
      <p:cxnSp>
        <p:nvCxnSpPr>
          <p:cNvPr id="52" name="Google Shape;52;g3911e19d633_0_0"/>
          <p:cNvCxnSpPr/>
          <p:nvPr/>
        </p:nvCxnSpPr>
        <p:spPr>
          <a:xfrm rot="10800000" flipH="1">
            <a:off x="5034950" y="14688325"/>
            <a:ext cx="1001400" cy="8400"/>
          </a:xfrm>
          <a:prstGeom prst="straightConnector1">
            <a:avLst/>
          </a:prstGeom>
          <a:noFill/>
          <a:ln w="38100" cap="flat" cmpd="sng">
            <a:solidFill>
              <a:srgbClr val="FF0000"/>
            </a:solidFill>
            <a:prstDash val="dash"/>
            <a:round/>
            <a:headEnd type="none" w="med" len="med"/>
            <a:tailEnd type="none" w="med" len="med"/>
          </a:ln>
        </p:spPr>
      </p:cxnSp>
      <p:cxnSp>
        <p:nvCxnSpPr>
          <p:cNvPr id="53" name="Google Shape;53;g3911e19d633_0_0"/>
          <p:cNvCxnSpPr/>
          <p:nvPr/>
        </p:nvCxnSpPr>
        <p:spPr>
          <a:xfrm rot="10800000" flipH="1">
            <a:off x="5040150" y="12289900"/>
            <a:ext cx="1021800" cy="15900"/>
          </a:xfrm>
          <a:prstGeom prst="straightConnector1">
            <a:avLst/>
          </a:prstGeom>
          <a:noFill/>
          <a:ln w="38100" cap="flat" cmpd="sng">
            <a:solidFill>
              <a:srgbClr val="FF0000"/>
            </a:solidFill>
            <a:prstDash val="dash"/>
            <a:round/>
            <a:headEnd type="none" w="med" len="med"/>
            <a:tailEnd type="none" w="med" len="med"/>
          </a:ln>
        </p:spPr>
      </p:cxnSp>
      <p:sp>
        <p:nvSpPr>
          <p:cNvPr id="54" name="Google Shape;54;g3911e19d633_0_0"/>
          <p:cNvSpPr/>
          <p:nvPr/>
        </p:nvSpPr>
        <p:spPr>
          <a:xfrm>
            <a:off x="8368100" y="11846450"/>
            <a:ext cx="1356000" cy="691800"/>
          </a:xfrm>
          <a:prstGeom prst="snip2DiagRect">
            <a:avLst>
              <a:gd name="adj1" fmla="val 0"/>
              <a:gd name="adj2"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a:solidFill>
                  <a:srgbClr val="FF0000"/>
                </a:solidFill>
              </a:rPr>
              <a:t>Door Status (Closed/Open)</a:t>
            </a:r>
            <a:endParaRPr sz="1200" b="1" dirty="0">
              <a:solidFill>
                <a:srgbClr val="FF0000"/>
              </a:solidFill>
            </a:endParaRPr>
          </a:p>
        </p:txBody>
      </p:sp>
      <p:cxnSp>
        <p:nvCxnSpPr>
          <p:cNvPr id="55" name="Google Shape;55;g3911e19d633_0_0"/>
          <p:cNvCxnSpPr>
            <a:endCxn id="54" idx="3"/>
          </p:cNvCxnSpPr>
          <p:nvPr/>
        </p:nvCxnSpPr>
        <p:spPr>
          <a:xfrm rot="10800000" flipH="1">
            <a:off x="5569400" y="11846450"/>
            <a:ext cx="3476700" cy="453600"/>
          </a:xfrm>
          <a:prstGeom prst="bentConnector4">
            <a:avLst>
              <a:gd name="adj1" fmla="val -23"/>
              <a:gd name="adj2" fmla="val 152497"/>
            </a:avLst>
          </a:prstGeom>
          <a:noFill/>
          <a:ln w="19050" cap="flat" cmpd="sng">
            <a:solidFill>
              <a:srgbClr val="FF0000"/>
            </a:solidFill>
            <a:prstDash val="solid"/>
            <a:round/>
            <a:headEnd type="stealth" w="med" len="med"/>
            <a:tailEnd type="none" w="med" len="med"/>
          </a:ln>
        </p:spPr>
      </p:cxnSp>
      <p:sp>
        <p:nvSpPr>
          <p:cNvPr id="56" name="Google Shape;56;g3911e19d633_0_0"/>
          <p:cNvSpPr txBox="1"/>
          <p:nvPr/>
        </p:nvSpPr>
        <p:spPr>
          <a:xfrm>
            <a:off x="6782125" y="11246025"/>
            <a:ext cx="1656600" cy="34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gating</a:t>
            </a:r>
            <a:endParaRPr sz="1800" dirty="0"/>
          </a:p>
        </p:txBody>
      </p:sp>
      <p:sp>
        <p:nvSpPr>
          <p:cNvPr id="57" name="Google Shape;57;g3911e19d633_0_0"/>
          <p:cNvSpPr/>
          <p:nvPr/>
        </p:nvSpPr>
        <p:spPr>
          <a:xfrm>
            <a:off x="346900" y="12069400"/>
            <a:ext cx="2169300" cy="468600"/>
          </a:xfrm>
          <a:prstGeom prst="ellipse">
            <a:avLst/>
          </a:prstGeom>
          <a:noFill/>
          <a:ln w="28575" cap="flat" cmpd="sng">
            <a:solidFill>
              <a:srgbClr val="3C78D8"/>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8" name="Google Shape;58;g3911e19d633_0_0"/>
          <p:cNvSpPr/>
          <p:nvPr/>
        </p:nvSpPr>
        <p:spPr>
          <a:xfrm>
            <a:off x="346900" y="14475875"/>
            <a:ext cx="2169300" cy="468600"/>
          </a:xfrm>
          <a:prstGeom prst="ellipse">
            <a:avLst/>
          </a:prstGeom>
          <a:noFill/>
          <a:ln w="28575" cap="flat" cmpd="sng">
            <a:solidFill>
              <a:srgbClr val="3C78D8"/>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9" name="Google Shape;59;g3911e19d633_0_0"/>
          <p:cNvSpPr/>
          <p:nvPr/>
        </p:nvSpPr>
        <p:spPr>
          <a:xfrm>
            <a:off x="613950" y="13114100"/>
            <a:ext cx="1356000" cy="691800"/>
          </a:xfrm>
          <a:prstGeom prst="snip2DiagRect">
            <a:avLst>
              <a:gd name="adj1" fmla="val 0"/>
              <a:gd name="adj2"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solidFill>
                  <a:srgbClr val="FF0000"/>
                </a:solidFill>
              </a:rPr>
              <a:t>Full body + Head Detector</a:t>
            </a:r>
            <a:endParaRPr sz="1200" b="1">
              <a:solidFill>
                <a:srgbClr val="FF0000"/>
              </a:solidFill>
            </a:endParaRPr>
          </a:p>
        </p:txBody>
      </p:sp>
      <p:cxnSp>
        <p:nvCxnSpPr>
          <p:cNvPr id="60" name="Google Shape;60;g3911e19d633_0_0"/>
          <p:cNvCxnSpPr/>
          <p:nvPr/>
        </p:nvCxnSpPr>
        <p:spPr>
          <a:xfrm rot="10800000">
            <a:off x="1245450" y="12546000"/>
            <a:ext cx="9300" cy="560100"/>
          </a:xfrm>
          <a:prstGeom prst="straightConnector1">
            <a:avLst/>
          </a:prstGeom>
          <a:noFill/>
          <a:ln w="19050" cap="flat" cmpd="sng">
            <a:solidFill>
              <a:srgbClr val="3C78D8"/>
            </a:solidFill>
            <a:prstDash val="solid"/>
            <a:round/>
            <a:headEnd type="none" w="med" len="med"/>
            <a:tailEnd type="stealth" w="med" len="med"/>
          </a:ln>
        </p:spPr>
      </p:cxnSp>
      <p:cxnSp>
        <p:nvCxnSpPr>
          <p:cNvPr id="61" name="Google Shape;61;g3911e19d633_0_0"/>
          <p:cNvCxnSpPr>
            <a:stCxn id="59" idx="1"/>
          </p:cNvCxnSpPr>
          <p:nvPr/>
        </p:nvCxnSpPr>
        <p:spPr>
          <a:xfrm>
            <a:off x="1291950" y="13805900"/>
            <a:ext cx="6000" cy="637800"/>
          </a:xfrm>
          <a:prstGeom prst="straightConnector1">
            <a:avLst/>
          </a:prstGeom>
          <a:noFill/>
          <a:ln w="19050" cap="flat" cmpd="sng">
            <a:solidFill>
              <a:srgbClr val="3C78D8"/>
            </a:solidFill>
            <a:prstDash val="solid"/>
            <a:round/>
            <a:headEnd type="none" w="med" len="med"/>
            <a:tailEnd type="stealth" w="med" len="med"/>
          </a:ln>
        </p:spPr>
      </p:cxnSp>
      <p:sp>
        <p:nvSpPr>
          <p:cNvPr id="62" name="Google Shape;62;g3911e19d633_0_0"/>
          <p:cNvSpPr txBox="1"/>
          <p:nvPr/>
        </p:nvSpPr>
        <p:spPr>
          <a:xfrm>
            <a:off x="302650" y="16021712"/>
            <a:ext cx="14009400" cy="708000"/>
          </a:xfrm>
          <a:prstGeom prst="rect">
            <a:avLst/>
          </a:prstGeom>
          <a:noFill/>
          <a:ln>
            <a:noFill/>
          </a:ln>
        </p:spPr>
        <p:txBody>
          <a:bodyPr spcFirstLastPara="1" wrap="square" lIns="30450" tIns="30450" rIns="30450" bIns="30450" anchor="t" anchorCtr="0">
            <a:spAutoFit/>
          </a:bodyPr>
          <a:lstStyle/>
          <a:p>
            <a:pPr marL="0" marR="0" lvl="0" indent="0" algn="l" rtl="0">
              <a:lnSpc>
                <a:spcPct val="100000"/>
              </a:lnSpc>
              <a:spcBef>
                <a:spcPts val="0"/>
              </a:spcBef>
              <a:spcAft>
                <a:spcPts val="0"/>
              </a:spcAft>
              <a:buNone/>
            </a:pPr>
            <a:r>
              <a:rPr lang="en-US" sz="2100">
                <a:solidFill>
                  <a:srgbClr val="344854"/>
                </a:solidFill>
              </a:rPr>
              <a:t>Two–stream pipeline with new and enhanced modules highlighted. </a:t>
            </a:r>
            <a:r>
              <a:rPr lang="en-US" sz="2100" b="1">
                <a:solidFill>
                  <a:srgbClr val="344854"/>
                </a:solidFill>
              </a:rPr>
              <a:t>Baseline (black): </a:t>
            </a:r>
            <a:r>
              <a:rPr lang="en-US" sz="2100">
                <a:solidFill>
                  <a:srgbClr val="344854"/>
                </a:solidFill>
              </a:rPr>
              <a:t>Same logic for both cameras but works in low-crowd conditions. </a:t>
            </a:r>
            <a:r>
              <a:rPr lang="en-US" sz="2100" b="1">
                <a:solidFill>
                  <a:srgbClr val="344854"/>
                </a:solidFill>
              </a:rPr>
              <a:t>Reality: </a:t>
            </a:r>
            <a:r>
              <a:rPr lang="en-US" sz="2100">
                <a:solidFill>
                  <a:srgbClr val="344854"/>
                </a:solidFill>
              </a:rPr>
              <a:t>Exit door is a choke point → heavy occlusion, queues, posture changes. </a:t>
            </a: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
          <a:extLst>
            <a:ext uri="{FF2B5EF4-FFF2-40B4-BE49-F238E27FC236}">
              <a16:creationId xmlns:a16="http://schemas.microsoft.com/office/drawing/2014/main" id="{0F00EC2C-80DA-1CD3-AEB0-8619040FE8E5}"/>
            </a:ext>
          </a:extLst>
        </p:cNvPr>
        <p:cNvGrpSpPr/>
        <p:nvPr/>
      </p:nvGrpSpPr>
      <p:grpSpPr>
        <a:xfrm>
          <a:off x="0" y="0"/>
          <a:ext cx="0" cy="0"/>
          <a:chOff x="0" y="0"/>
          <a:chExt cx="0" cy="0"/>
        </a:xfrm>
      </p:grpSpPr>
      <p:sp>
        <p:nvSpPr>
          <p:cNvPr id="17" name="Google Shape;17;g3911e19d633_0_0">
            <a:extLst>
              <a:ext uri="{FF2B5EF4-FFF2-40B4-BE49-F238E27FC236}">
                <a16:creationId xmlns:a16="http://schemas.microsoft.com/office/drawing/2014/main" id="{320C2D03-DED8-74AD-F195-1A72D732683F}"/>
              </a:ext>
            </a:extLst>
          </p:cNvPr>
          <p:cNvSpPr/>
          <p:nvPr/>
        </p:nvSpPr>
        <p:spPr>
          <a:xfrm>
            <a:off x="27433" y="0"/>
            <a:ext cx="21945600" cy="69900"/>
          </a:xfrm>
          <a:prstGeom prst="rect">
            <a:avLst/>
          </a:prstGeom>
          <a:solidFill>
            <a:srgbClr val="AA0522"/>
          </a:solidFill>
          <a:ln>
            <a:noFill/>
          </a:ln>
        </p:spPr>
        <p:txBody>
          <a:bodyPr spcFirstLastPara="1" wrap="square" lIns="47350" tIns="23650" rIns="47350" bIns="23650" anchor="t" anchorCtr="0">
            <a:noAutofit/>
          </a:bodyPr>
          <a:lstStyle/>
          <a:p>
            <a:pPr marL="0" marR="0" lvl="0" indent="0" algn="l" rtl="0">
              <a:lnSpc>
                <a:spcPct val="100000"/>
              </a:lnSpc>
              <a:spcBef>
                <a:spcPts val="0"/>
              </a:spcBef>
              <a:spcAft>
                <a:spcPts val="0"/>
              </a:spcAft>
              <a:buNone/>
            </a:pPr>
            <a:endParaRPr sz="1219" b="0" i="0" u="none" strike="noStrike" cap="none">
              <a:solidFill>
                <a:schemeClr val="dk1"/>
              </a:solidFill>
              <a:latin typeface="Arial"/>
              <a:ea typeface="Arial"/>
              <a:cs typeface="Arial"/>
              <a:sym typeface="Arial"/>
            </a:endParaRPr>
          </a:p>
        </p:txBody>
      </p:sp>
      <p:sp>
        <p:nvSpPr>
          <p:cNvPr id="18" name="Google Shape;18;g3911e19d633_0_0">
            <a:extLst>
              <a:ext uri="{FF2B5EF4-FFF2-40B4-BE49-F238E27FC236}">
                <a16:creationId xmlns:a16="http://schemas.microsoft.com/office/drawing/2014/main" id="{D8A922F3-D6C6-4392-9FEA-A0EC5265F216}"/>
              </a:ext>
            </a:extLst>
          </p:cNvPr>
          <p:cNvSpPr/>
          <p:nvPr/>
        </p:nvSpPr>
        <p:spPr>
          <a:xfrm>
            <a:off x="27433" y="3054675"/>
            <a:ext cx="21945600" cy="69900"/>
          </a:xfrm>
          <a:prstGeom prst="rect">
            <a:avLst/>
          </a:prstGeom>
          <a:solidFill>
            <a:srgbClr val="AA0522"/>
          </a:solidFill>
          <a:ln>
            <a:noFill/>
          </a:ln>
        </p:spPr>
        <p:txBody>
          <a:bodyPr spcFirstLastPara="1" wrap="square" lIns="47350" tIns="23650" rIns="47350" bIns="23650" anchor="t" anchorCtr="0">
            <a:noAutofit/>
          </a:bodyPr>
          <a:lstStyle/>
          <a:p>
            <a:pPr marL="0" marR="0" lvl="0" indent="0" algn="l" rtl="0">
              <a:lnSpc>
                <a:spcPct val="100000"/>
              </a:lnSpc>
              <a:spcBef>
                <a:spcPts val="0"/>
              </a:spcBef>
              <a:spcAft>
                <a:spcPts val="0"/>
              </a:spcAft>
              <a:buNone/>
            </a:pPr>
            <a:endParaRPr sz="1219" b="0" i="0" u="none" strike="noStrike" cap="none">
              <a:solidFill>
                <a:schemeClr val="dk1"/>
              </a:solidFill>
              <a:latin typeface="Arial"/>
              <a:ea typeface="Arial"/>
              <a:cs typeface="Arial"/>
              <a:sym typeface="Arial"/>
            </a:endParaRPr>
          </a:p>
        </p:txBody>
      </p:sp>
      <p:sp>
        <p:nvSpPr>
          <p:cNvPr id="19" name="Google Shape;19;g3911e19d633_0_0">
            <a:extLst>
              <a:ext uri="{FF2B5EF4-FFF2-40B4-BE49-F238E27FC236}">
                <a16:creationId xmlns:a16="http://schemas.microsoft.com/office/drawing/2014/main" id="{746E74C3-1AAE-C4AA-2D21-3F394F5F026F}"/>
              </a:ext>
            </a:extLst>
          </p:cNvPr>
          <p:cNvSpPr txBox="1"/>
          <p:nvPr/>
        </p:nvSpPr>
        <p:spPr>
          <a:xfrm>
            <a:off x="2831900" y="69900"/>
            <a:ext cx="17501100" cy="1754700"/>
          </a:xfrm>
          <a:prstGeom prst="rect">
            <a:avLst/>
          </a:prstGeom>
          <a:noFill/>
          <a:ln>
            <a:noFill/>
          </a:ln>
        </p:spPr>
        <p:txBody>
          <a:bodyPr spcFirstLastPara="1" wrap="square" lIns="30450" tIns="30450" rIns="30450" bIns="30450" anchor="ctr" anchorCtr="0">
            <a:noAutofit/>
          </a:bodyPr>
          <a:lstStyle/>
          <a:p>
            <a:pPr marL="0" marR="0" lvl="0" indent="0" algn="ctr" rtl="0">
              <a:lnSpc>
                <a:spcPct val="100000"/>
              </a:lnSpc>
              <a:spcBef>
                <a:spcPts val="0"/>
              </a:spcBef>
              <a:spcAft>
                <a:spcPts val="0"/>
              </a:spcAft>
              <a:buNone/>
            </a:pPr>
            <a:r>
              <a:rPr lang="en-US" sz="5500" b="0" i="0" u="none" strike="noStrike" cap="none">
                <a:solidFill>
                  <a:srgbClr val="000000"/>
                </a:solidFill>
                <a:latin typeface="Arial"/>
                <a:ea typeface="Arial"/>
                <a:cs typeface="Arial"/>
                <a:sym typeface="Arial"/>
              </a:rPr>
              <a:t>Recovering Origin–Destination Flows from Bus</a:t>
            </a:r>
            <a:r>
              <a:rPr lang="en-US" sz="5500"/>
              <a:t> </a:t>
            </a:r>
            <a:r>
              <a:rPr lang="en-US" sz="5500" b="0" i="0" u="none" strike="noStrike" cap="none">
                <a:solidFill>
                  <a:srgbClr val="000000"/>
                </a:solidFill>
                <a:latin typeface="Arial"/>
                <a:ea typeface="Arial"/>
                <a:cs typeface="Arial"/>
                <a:sym typeface="Arial"/>
              </a:rPr>
              <a:t>CCTV:  Early Results from Nairobi and Kigali</a:t>
            </a:r>
            <a:endParaRPr sz="5500" b="0" i="0" u="none" strike="noStrike" cap="none">
              <a:solidFill>
                <a:srgbClr val="000000"/>
              </a:solidFill>
              <a:latin typeface="Arial"/>
              <a:ea typeface="Arial"/>
              <a:cs typeface="Arial"/>
              <a:sym typeface="Arial"/>
            </a:endParaRPr>
          </a:p>
        </p:txBody>
      </p:sp>
      <p:sp>
        <p:nvSpPr>
          <p:cNvPr id="27" name="Google Shape;27;g3911e19d633_0_0">
            <a:extLst>
              <a:ext uri="{FF2B5EF4-FFF2-40B4-BE49-F238E27FC236}">
                <a16:creationId xmlns:a16="http://schemas.microsoft.com/office/drawing/2014/main" id="{4F9D034E-467C-6857-3581-B0D596658B76}"/>
              </a:ext>
            </a:extLst>
          </p:cNvPr>
          <p:cNvSpPr/>
          <p:nvPr/>
        </p:nvSpPr>
        <p:spPr>
          <a:xfrm>
            <a:off x="170300" y="10380133"/>
            <a:ext cx="18574900" cy="7719434"/>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41" name="Google Shape;41;g3911e19d633_0_0">
            <a:extLst>
              <a:ext uri="{FF2B5EF4-FFF2-40B4-BE49-F238E27FC236}">
                <a16:creationId xmlns:a16="http://schemas.microsoft.com/office/drawing/2014/main" id="{77BD3354-3A9D-F93F-6BF5-0E0B79790C09}"/>
              </a:ext>
            </a:extLst>
          </p:cNvPr>
          <p:cNvSpPr/>
          <p:nvPr/>
        </p:nvSpPr>
        <p:spPr>
          <a:xfrm>
            <a:off x="187700" y="31650800"/>
            <a:ext cx="21570300" cy="8097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0000"/>
              </a:lnSpc>
              <a:spcBef>
                <a:spcPts val="0"/>
              </a:spcBef>
              <a:spcAft>
                <a:spcPts val="0"/>
              </a:spcAft>
              <a:buNone/>
            </a:pPr>
            <a:endParaRPr sz="2100">
              <a:solidFill>
                <a:srgbClr val="344854"/>
              </a:solidFill>
            </a:endParaRPr>
          </a:p>
          <a:p>
            <a:pPr marL="0" lvl="0" indent="0" algn="l" rtl="0">
              <a:lnSpc>
                <a:spcPct val="120000"/>
              </a:lnSpc>
              <a:spcBef>
                <a:spcPts val="0"/>
              </a:spcBef>
              <a:spcAft>
                <a:spcPts val="0"/>
              </a:spcAft>
              <a:buNone/>
            </a:pPr>
            <a:r>
              <a:rPr lang="en-US" sz="2100">
                <a:solidFill>
                  <a:srgbClr val="344854"/>
                </a:solidFill>
              </a:rPr>
              <a:t>Authors thank BasiGo for granting access to CCTV footage and operational data from buses in Nairobi and Kigali, UMass Amherst for institutional support, computing resources, and mentoring and WiML for providing travel support.</a:t>
            </a:r>
            <a:endParaRPr sz="2100">
              <a:solidFill>
                <a:srgbClr val="344854"/>
              </a:solidFill>
            </a:endParaRPr>
          </a:p>
          <a:p>
            <a:pPr marL="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43" name="Google Shape;43;g3911e19d633_0_0">
            <a:extLst>
              <a:ext uri="{FF2B5EF4-FFF2-40B4-BE49-F238E27FC236}">
                <a16:creationId xmlns:a16="http://schemas.microsoft.com/office/drawing/2014/main" id="{0159CC9B-16E7-3CCD-83B7-89BE55789287}"/>
              </a:ext>
            </a:extLst>
          </p:cNvPr>
          <p:cNvSpPr/>
          <p:nvPr/>
        </p:nvSpPr>
        <p:spPr>
          <a:xfrm>
            <a:off x="0" y="32552255"/>
            <a:ext cx="21945600" cy="169500"/>
          </a:xfrm>
          <a:prstGeom prst="rect">
            <a:avLst/>
          </a:prstGeom>
          <a:solidFill>
            <a:srgbClr val="AA0522"/>
          </a:solidFill>
          <a:ln>
            <a:noFill/>
          </a:ln>
        </p:spPr>
        <p:txBody>
          <a:bodyPr spcFirstLastPara="1" wrap="square" lIns="44000" tIns="22000" rIns="44000" bIns="22000" anchor="t" anchorCtr="0">
            <a:noAutofit/>
          </a:bodyPr>
          <a:lstStyle/>
          <a:p>
            <a:pPr marL="0" marR="0" lvl="0" indent="0" algn="l" rtl="0">
              <a:lnSpc>
                <a:spcPct val="100000"/>
              </a:lnSpc>
              <a:spcBef>
                <a:spcPts val="0"/>
              </a:spcBef>
              <a:spcAft>
                <a:spcPts val="0"/>
              </a:spcAft>
              <a:buNone/>
            </a:pPr>
            <a:endParaRPr sz="1133" b="0" i="0" u="none" strike="noStrike" cap="none">
              <a:solidFill>
                <a:schemeClr val="dk1"/>
              </a:solidFill>
              <a:latin typeface="Arial"/>
              <a:ea typeface="Arial"/>
              <a:cs typeface="Arial"/>
              <a:sym typeface="Arial"/>
            </a:endParaRPr>
          </a:p>
        </p:txBody>
      </p:sp>
      <p:sp>
        <p:nvSpPr>
          <p:cNvPr id="44" name="Google Shape;44;g3911e19d633_0_0">
            <a:extLst>
              <a:ext uri="{FF2B5EF4-FFF2-40B4-BE49-F238E27FC236}">
                <a16:creationId xmlns:a16="http://schemas.microsoft.com/office/drawing/2014/main" id="{EED05D73-5B6F-DB94-53CA-A49C5D516847}"/>
              </a:ext>
            </a:extLst>
          </p:cNvPr>
          <p:cNvSpPr/>
          <p:nvPr/>
        </p:nvSpPr>
        <p:spPr>
          <a:xfrm>
            <a:off x="0" y="32721655"/>
            <a:ext cx="21981300" cy="196800"/>
          </a:xfrm>
          <a:prstGeom prst="rect">
            <a:avLst/>
          </a:prstGeom>
          <a:solidFill>
            <a:srgbClr val="7F7F7F"/>
          </a:solidFill>
          <a:ln>
            <a:noFill/>
          </a:ln>
        </p:spPr>
        <p:txBody>
          <a:bodyPr spcFirstLastPara="1" wrap="square" lIns="44000" tIns="22000" rIns="44000" bIns="22000" anchor="t" anchorCtr="0">
            <a:noAutofit/>
          </a:bodyPr>
          <a:lstStyle/>
          <a:p>
            <a:pPr marL="0" marR="0" lvl="0" indent="0" algn="l" rtl="0">
              <a:lnSpc>
                <a:spcPct val="100000"/>
              </a:lnSpc>
              <a:spcBef>
                <a:spcPts val="0"/>
              </a:spcBef>
              <a:spcAft>
                <a:spcPts val="0"/>
              </a:spcAft>
              <a:buNone/>
            </a:pPr>
            <a:endParaRPr sz="1133" b="0" i="0" u="none" strike="noStrike" cap="none">
              <a:solidFill>
                <a:schemeClr val="dk1"/>
              </a:solidFill>
              <a:latin typeface="Arial"/>
              <a:ea typeface="Arial"/>
              <a:cs typeface="Arial"/>
              <a:sym typeface="Arial"/>
            </a:endParaRPr>
          </a:p>
        </p:txBody>
      </p:sp>
      <p:pic>
        <p:nvPicPr>
          <p:cNvPr id="45" name="Google Shape;45;g3911e19d633_0_0" descr="neurips_logo.pdf">
            <a:extLst>
              <a:ext uri="{FF2B5EF4-FFF2-40B4-BE49-F238E27FC236}">
                <a16:creationId xmlns:a16="http://schemas.microsoft.com/office/drawing/2014/main" id="{28D0CD1E-BBE1-A1EE-D0E3-78EFE3784189}"/>
              </a:ext>
            </a:extLst>
          </p:cNvPr>
          <p:cNvPicPr preferRelativeResize="0"/>
          <p:nvPr/>
        </p:nvPicPr>
        <p:blipFill rotWithShape="1">
          <a:blip r:embed="rId3">
            <a:alphaModFix/>
          </a:blip>
          <a:srcRect/>
          <a:stretch/>
        </p:blipFill>
        <p:spPr>
          <a:xfrm>
            <a:off x="17812311" y="954598"/>
            <a:ext cx="3761264" cy="1692575"/>
          </a:xfrm>
          <a:prstGeom prst="rect">
            <a:avLst/>
          </a:prstGeom>
          <a:noFill/>
          <a:ln>
            <a:noFill/>
          </a:ln>
        </p:spPr>
      </p:pic>
      <p:pic>
        <p:nvPicPr>
          <p:cNvPr id="51" name="Google Shape;51;g3911e19d633_0_0" title="two_stream_crosscam_pipeline (1).png">
            <a:extLst>
              <a:ext uri="{FF2B5EF4-FFF2-40B4-BE49-F238E27FC236}">
                <a16:creationId xmlns:a16="http://schemas.microsoft.com/office/drawing/2014/main" id="{5E3FFA5D-D6F9-03E9-0741-E1C344B41817}"/>
              </a:ext>
            </a:extLst>
          </p:cNvPr>
          <p:cNvPicPr preferRelativeResize="0"/>
          <p:nvPr/>
        </p:nvPicPr>
        <p:blipFill>
          <a:blip r:embed="rId4">
            <a:alphaModFix/>
          </a:blip>
          <a:stretch>
            <a:fillRect/>
          </a:stretch>
        </p:blipFill>
        <p:spPr>
          <a:xfrm>
            <a:off x="220258" y="11539558"/>
            <a:ext cx="14340858" cy="4674614"/>
          </a:xfrm>
          <a:prstGeom prst="rect">
            <a:avLst/>
          </a:prstGeom>
          <a:noFill/>
          <a:ln>
            <a:noFill/>
          </a:ln>
        </p:spPr>
      </p:pic>
      <p:cxnSp>
        <p:nvCxnSpPr>
          <p:cNvPr id="52" name="Google Shape;52;g3911e19d633_0_0">
            <a:extLst>
              <a:ext uri="{FF2B5EF4-FFF2-40B4-BE49-F238E27FC236}">
                <a16:creationId xmlns:a16="http://schemas.microsoft.com/office/drawing/2014/main" id="{47218F62-3D6A-708A-CA78-5D97EC9B7DAD}"/>
              </a:ext>
            </a:extLst>
          </p:cNvPr>
          <p:cNvCxnSpPr/>
          <p:nvPr/>
        </p:nvCxnSpPr>
        <p:spPr>
          <a:xfrm rot="10800000" flipH="1">
            <a:off x="5221217" y="15060858"/>
            <a:ext cx="1001400" cy="8400"/>
          </a:xfrm>
          <a:prstGeom prst="straightConnector1">
            <a:avLst/>
          </a:prstGeom>
          <a:noFill/>
          <a:ln w="38100" cap="flat" cmpd="sng">
            <a:solidFill>
              <a:srgbClr val="FF0000"/>
            </a:solidFill>
            <a:prstDash val="dash"/>
            <a:round/>
            <a:headEnd type="none" w="med" len="med"/>
            <a:tailEnd type="none" w="med" len="med"/>
          </a:ln>
        </p:spPr>
      </p:cxnSp>
      <p:cxnSp>
        <p:nvCxnSpPr>
          <p:cNvPr id="53" name="Google Shape;53;g3911e19d633_0_0">
            <a:extLst>
              <a:ext uri="{FF2B5EF4-FFF2-40B4-BE49-F238E27FC236}">
                <a16:creationId xmlns:a16="http://schemas.microsoft.com/office/drawing/2014/main" id="{3C9CFF36-9237-48EF-B087-8E6361524C78}"/>
              </a:ext>
            </a:extLst>
          </p:cNvPr>
          <p:cNvCxnSpPr/>
          <p:nvPr/>
        </p:nvCxnSpPr>
        <p:spPr>
          <a:xfrm rot="10800000" flipH="1">
            <a:off x="5040150" y="12289900"/>
            <a:ext cx="1021800" cy="15900"/>
          </a:xfrm>
          <a:prstGeom prst="straightConnector1">
            <a:avLst/>
          </a:prstGeom>
          <a:noFill/>
          <a:ln w="38100" cap="flat" cmpd="sng">
            <a:solidFill>
              <a:srgbClr val="FF0000"/>
            </a:solidFill>
            <a:prstDash val="dash"/>
            <a:round/>
            <a:headEnd type="none" w="med" len="med"/>
            <a:tailEnd type="none" w="med" len="med"/>
          </a:ln>
        </p:spPr>
      </p:cxnSp>
      <p:sp>
        <p:nvSpPr>
          <p:cNvPr id="54" name="Google Shape;54;g3911e19d633_0_0">
            <a:extLst>
              <a:ext uri="{FF2B5EF4-FFF2-40B4-BE49-F238E27FC236}">
                <a16:creationId xmlns:a16="http://schemas.microsoft.com/office/drawing/2014/main" id="{C353C89C-D49E-B0A0-524A-B244CE4C6547}"/>
              </a:ext>
            </a:extLst>
          </p:cNvPr>
          <p:cNvSpPr/>
          <p:nvPr/>
        </p:nvSpPr>
        <p:spPr>
          <a:xfrm>
            <a:off x="8368100" y="11846450"/>
            <a:ext cx="1356000" cy="691800"/>
          </a:xfrm>
          <a:prstGeom prst="snip2DiagRect">
            <a:avLst>
              <a:gd name="adj1" fmla="val 0"/>
              <a:gd name="adj2"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a:solidFill>
                  <a:srgbClr val="FF0000"/>
                </a:solidFill>
              </a:rPr>
              <a:t>Door Status (Closed/Open)</a:t>
            </a:r>
            <a:endParaRPr sz="1200" b="1" dirty="0">
              <a:solidFill>
                <a:srgbClr val="FF0000"/>
              </a:solidFill>
            </a:endParaRPr>
          </a:p>
        </p:txBody>
      </p:sp>
      <p:cxnSp>
        <p:nvCxnSpPr>
          <p:cNvPr id="55" name="Google Shape;55;g3911e19d633_0_0">
            <a:extLst>
              <a:ext uri="{FF2B5EF4-FFF2-40B4-BE49-F238E27FC236}">
                <a16:creationId xmlns:a16="http://schemas.microsoft.com/office/drawing/2014/main" id="{D8D3B51F-4BB1-02F1-983D-6135F52B37B5}"/>
              </a:ext>
            </a:extLst>
          </p:cNvPr>
          <p:cNvCxnSpPr>
            <a:endCxn id="54" idx="3"/>
          </p:cNvCxnSpPr>
          <p:nvPr/>
        </p:nvCxnSpPr>
        <p:spPr>
          <a:xfrm rot="10800000" flipH="1">
            <a:off x="5569400" y="11846450"/>
            <a:ext cx="3476700" cy="453600"/>
          </a:xfrm>
          <a:prstGeom prst="bentConnector4">
            <a:avLst>
              <a:gd name="adj1" fmla="val -23"/>
              <a:gd name="adj2" fmla="val 215960"/>
            </a:avLst>
          </a:prstGeom>
          <a:noFill/>
          <a:ln w="19050" cap="flat" cmpd="sng">
            <a:solidFill>
              <a:srgbClr val="FF0000"/>
            </a:solidFill>
            <a:prstDash val="solid"/>
            <a:round/>
            <a:headEnd type="stealth" w="med" len="med"/>
            <a:tailEnd type="none" w="med" len="med"/>
          </a:ln>
        </p:spPr>
      </p:cxnSp>
      <p:sp>
        <p:nvSpPr>
          <p:cNvPr id="56" name="Google Shape;56;g3911e19d633_0_0">
            <a:extLst>
              <a:ext uri="{FF2B5EF4-FFF2-40B4-BE49-F238E27FC236}">
                <a16:creationId xmlns:a16="http://schemas.microsoft.com/office/drawing/2014/main" id="{050AB4D0-B6A8-894F-8C94-9EB24E630F74}"/>
              </a:ext>
            </a:extLst>
          </p:cNvPr>
          <p:cNvSpPr txBox="1"/>
          <p:nvPr/>
        </p:nvSpPr>
        <p:spPr>
          <a:xfrm>
            <a:off x="6479050" y="10817254"/>
            <a:ext cx="1656600" cy="34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gating</a:t>
            </a:r>
            <a:endParaRPr sz="1800" dirty="0"/>
          </a:p>
        </p:txBody>
      </p:sp>
      <p:sp>
        <p:nvSpPr>
          <p:cNvPr id="57" name="Google Shape;57;g3911e19d633_0_0">
            <a:extLst>
              <a:ext uri="{FF2B5EF4-FFF2-40B4-BE49-F238E27FC236}">
                <a16:creationId xmlns:a16="http://schemas.microsoft.com/office/drawing/2014/main" id="{85649FFB-B39C-8E8A-21F8-1262B353FB96}"/>
              </a:ext>
            </a:extLst>
          </p:cNvPr>
          <p:cNvSpPr/>
          <p:nvPr/>
        </p:nvSpPr>
        <p:spPr>
          <a:xfrm>
            <a:off x="362283" y="12006284"/>
            <a:ext cx="2169300" cy="468600"/>
          </a:xfrm>
          <a:prstGeom prst="ellipse">
            <a:avLst/>
          </a:prstGeom>
          <a:noFill/>
          <a:ln w="2857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latin typeface="Calibri"/>
              <a:ea typeface="Calibri"/>
              <a:cs typeface="Calibri"/>
              <a:sym typeface="Calibri"/>
            </a:endParaRPr>
          </a:p>
        </p:txBody>
      </p:sp>
      <p:sp>
        <p:nvSpPr>
          <p:cNvPr id="58" name="Google Shape;58;g3911e19d633_0_0">
            <a:extLst>
              <a:ext uri="{FF2B5EF4-FFF2-40B4-BE49-F238E27FC236}">
                <a16:creationId xmlns:a16="http://schemas.microsoft.com/office/drawing/2014/main" id="{1CD20B7C-A225-7989-48B5-7EDCC2C060D5}"/>
              </a:ext>
            </a:extLst>
          </p:cNvPr>
          <p:cNvSpPr/>
          <p:nvPr/>
        </p:nvSpPr>
        <p:spPr>
          <a:xfrm>
            <a:off x="362283" y="14462425"/>
            <a:ext cx="2169300" cy="468600"/>
          </a:xfrm>
          <a:prstGeom prst="ellipse">
            <a:avLst/>
          </a:prstGeom>
          <a:noFill/>
          <a:ln w="2857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latin typeface="Calibri"/>
              <a:ea typeface="Calibri"/>
              <a:cs typeface="Calibri"/>
              <a:sym typeface="Calibri"/>
            </a:endParaRPr>
          </a:p>
        </p:txBody>
      </p:sp>
      <p:sp>
        <p:nvSpPr>
          <p:cNvPr id="59" name="Google Shape;59;g3911e19d633_0_0">
            <a:extLst>
              <a:ext uri="{FF2B5EF4-FFF2-40B4-BE49-F238E27FC236}">
                <a16:creationId xmlns:a16="http://schemas.microsoft.com/office/drawing/2014/main" id="{C300BAF1-2CCA-DC98-FA40-00A736287DB6}"/>
              </a:ext>
            </a:extLst>
          </p:cNvPr>
          <p:cNvSpPr/>
          <p:nvPr/>
        </p:nvSpPr>
        <p:spPr>
          <a:xfrm>
            <a:off x="629333" y="13050984"/>
            <a:ext cx="1356000" cy="691800"/>
          </a:xfrm>
          <a:prstGeom prst="snip2DiagRect">
            <a:avLst>
              <a:gd name="adj1" fmla="val 0"/>
              <a:gd name="adj2"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solidFill>
                  <a:srgbClr val="FF0000"/>
                </a:solidFill>
              </a:rPr>
              <a:t>Full body + Head Detector</a:t>
            </a:r>
            <a:endParaRPr sz="1200" b="1">
              <a:solidFill>
                <a:srgbClr val="FF0000"/>
              </a:solidFill>
            </a:endParaRPr>
          </a:p>
        </p:txBody>
      </p:sp>
      <p:cxnSp>
        <p:nvCxnSpPr>
          <p:cNvPr id="60" name="Google Shape;60;g3911e19d633_0_0">
            <a:extLst>
              <a:ext uri="{FF2B5EF4-FFF2-40B4-BE49-F238E27FC236}">
                <a16:creationId xmlns:a16="http://schemas.microsoft.com/office/drawing/2014/main" id="{80F2BAFA-0329-4201-95B6-2C0CD77AF24F}"/>
              </a:ext>
            </a:extLst>
          </p:cNvPr>
          <p:cNvCxnSpPr/>
          <p:nvPr/>
        </p:nvCxnSpPr>
        <p:spPr>
          <a:xfrm rot="10800000">
            <a:off x="1260833" y="12482884"/>
            <a:ext cx="9300" cy="560100"/>
          </a:xfrm>
          <a:prstGeom prst="straightConnector1">
            <a:avLst/>
          </a:prstGeom>
          <a:noFill/>
          <a:ln w="19050" cap="flat" cmpd="sng">
            <a:solidFill>
              <a:srgbClr val="FF0000"/>
            </a:solidFill>
            <a:prstDash val="solid"/>
            <a:round/>
            <a:headEnd type="none" w="med" len="med"/>
            <a:tailEnd type="stealth" w="med" len="med"/>
          </a:ln>
        </p:spPr>
      </p:cxnSp>
      <p:cxnSp>
        <p:nvCxnSpPr>
          <p:cNvPr id="61" name="Google Shape;61;g3911e19d633_0_0">
            <a:extLst>
              <a:ext uri="{FF2B5EF4-FFF2-40B4-BE49-F238E27FC236}">
                <a16:creationId xmlns:a16="http://schemas.microsoft.com/office/drawing/2014/main" id="{B3B6D22C-7659-2AB8-D41C-7FD3480D6B20}"/>
              </a:ext>
            </a:extLst>
          </p:cNvPr>
          <p:cNvCxnSpPr>
            <a:stCxn id="59" idx="1"/>
          </p:cNvCxnSpPr>
          <p:nvPr/>
        </p:nvCxnSpPr>
        <p:spPr>
          <a:xfrm>
            <a:off x="1307333" y="13742784"/>
            <a:ext cx="6000" cy="637800"/>
          </a:xfrm>
          <a:prstGeom prst="straightConnector1">
            <a:avLst/>
          </a:prstGeom>
          <a:noFill/>
          <a:ln w="19050" cap="flat" cmpd="sng">
            <a:solidFill>
              <a:srgbClr val="FF0000"/>
            </a:solidFill>
            <a:prstDash val="solid"/>
            <a:round/>
            <a:headEnd type="none" w="med" len="med"/>
            <a:tailEnd type="stealth" w="med" len="med"/>
          </a:ln>
        </p:spPr>
      </p:cxnSp>
      <p:sp>
        <p:nvSpPr>
          <p:cNvPr id="62" name="Google Shape;62;g3911e19d633_0_0">
            <a:extLst>
              <a:ext uri="{FF2B5EF4-FFF2-40B4-BE49-F238E27FC236}">
                <a16:creationId xmlns:a16="http://schemas.microsoft.com/office/drawing/2014/main" id="{E84A1BC7-D0DB-5CBD-12C3-DA540A5DEF2A}"/>
              </a:ext>
            </a:extLst>
          </p:cNvPr>
          <p:cNvSpPr txBox="1"/>
          <p:nvPr/>
        </p:nvSpPr>
        <p:spPr>
          <a:xfrm>
            <a:off x="362283" y="17256127"/>
            <a:ext cx="14009400" cy="708000"/>
          </a:xfrm>
          <a:prstGeom prst="rect">
            <a:avLst/>
          </a:prstGeom>
          <a:noFill/>
          <a:ln>
            <a:noFill/>
          </a:ln>
        </p:spPr>
        <p:txBody>
          <a:bodyPr spcFirstLastPara="1" wrap="square" lIns="30450" tIns="30450" rIns="30450" bIns="30450" anchor="t" anchorCtr="0">
            <a:spAutoFit/>
          </a:bodyPr>
          <a:lstStyle/>
          <a:p>
            <a:pPr marL="0" marR="0" lvl="0" indent="0" algn="l" rtl="0">
              <a:lnSpc>
                <a:spcPct val="100000"/>
              </a:lnSpc>
              <a:spcBef>
                <a:spcPts val="0"/>
              </a:spcBef>
              <a:spcAft>
                <a:spcPts val="0"/>
              </a:spcAft>
              <a:buNone/>
            </a:pPr>
            <a:r>
              <a:rPr lang="en-US" sz="2100" dirty="0">
                <a:solidFill>
                  <a:srgbClr val="344854"/>
                </a:solidFill>
              </a:rPr>
              <a:t>Two–stream pipeline with new and enhanced modules highlighted. </a:t>
            </a:r>
            <a:r>
              <a:rPr lang="en-US" sz="2100" b="1" dirty="0">
                <a:solidFill>
                  <a:srgbClr val="344854"/>
                </a:solidFill>
              </a:rPr>
              <a:t>Baseline (black): </a:t>
            </a:r>
            <a:r>
              <a:rPr lang="en-US" sz="2100" dirty="0">
                <a:solidFill>
                  <a:srgbClr val="344854"/>
                </a:solidFill>
              </a:rPr>
              <a:t>Same logic for both cameras but works in low-crowd conditions. </a:t>
            </a:r>
            <a:r>
              <a:rPr lang="en-US" sz="2100" b="1" dirty="0">
                <a:solidFill>
                  <a:srgbClr val="344854"/>
                </a:solidFill>
              </a:rPr>
              <a:t>Reality: </a:t>
            </a:r>
            <a:r>
              <a:rPr lang="en-US" sz="2100" dirty="0">
                <a:solidFill>
                  <a:srgbClr val="344854"/>
                </a:solidFill>
              </a:rPr>
              <a:t>Exit door is a choke point → heavy occlusion, queues, posture changes. </a:t>
            </a:r>
            <a:endParaRPr sz="2100" b="0" i="0" u="none" strike="noStrike" cap="none" dirty="0">
              <a:solidFill>
                <a:srgbClr val="000000"/>
              </a:solidFill>
              <a:latin typeface="Arial"/>
              <a:ea typeface="Arial"/>
              <a:cs typeface="Arial"/>
              <a:sym typeface="Arial"/>
            </a:endParaRPr>
          </a:p>
        </p:txBody>
      </p:sp>
      <p:sp>
        <p:nvSpPr>
          <p:cNvPr id="4" name="Google Shape;54;g3911e19d633_0_0">
            <a:extLst>
              <a:ext uri="{FF2B5EF4-FFF2-40B4-BE49-F238E27FC236}">
                <a16:creationId xmlns:a16="http://schemas.microsoft.com/office/drawing/2014/main" id="{541D0BC1-DA9B-9201-D31A-9FACF479B863}"/>
              </a:ext>
            </a:extLst>
          </p:cNvPr>
          <p:cNvSpPr/>
          <p:nvPr/>
        </p:nvSpPr>
        <p:spPr>
          <a:xfrm>
            <a:off x="3226283" y="13106100"/>
            <a:ext cx="1356000" cy="691800"/>
          </a:xfrm>
          <a:prstGeom prst="snip2DiagRect">
            <a:avLst>
              <a:gd name="adj1" fmla="val 0"/>
              <a:gd name="adj2" fmla="val 16667"/>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dirty="0">
                <a:solidFill>
                  <a:srgbClr val="FF0000"/>
                </a:solidFill>
              </a:rPr>
              <a:t>Pose Detector</a:t>
            </a:r>
            <a:endParaRPr sz="1200" b="1" dirty="0">
              <a:solidFill>
                <a:srgbClr val="FF0000"/>
              </a:solidFill>
            </a:endParaRPr>
          </a:p>
        </p:txBody>
      </p:sp>
    </p:spTree>
    <p:extLst>
      <p:ext uri="{BB962C8B-B14F-4D97-AF65-F5344CB8AC3E}">
        <p14:creationId xmlns:p14="http://schemas.microsoft.com/office/powerpoint/2010/main" val="381390093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940</Words>
  <Application>Microsoft Macintosh PowerPoint</Application>
  <PresentationFormat>Custom</PresentationFormat>
  <Paragraphs>104</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Nthenya Kyatha</cp:lastModifiedBy>
  <cp:revision>1</cp:revision>
  <dcterms:modified xsi:type="dcterms:W3CDTF">2026-01-20T20:35:49Z</dcterms:modified>
</cp:coreProperties>
</file>